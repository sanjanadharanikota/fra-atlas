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lice" panose="020B0604020202020204" charset="0"/>
      <p:regular r:id="rId10"/>
    </p:embeddedFont>
    <p:embeddedFont>
      <p:font typeface="Alice Bold" panose="020B0604020202020204" charset="0"/>
      <p:regular r:id="rId11"/>
    </p:embeddedFont>
    <p:embeddedFont>
      <p:font typeface="Lora" pitchFamily="2" charset="0"/>
      <p:regular r:id="rId12"/>
      <p:bold r:id="rId13"/>
    </p:embeddedFont>
    <p:embeddedFont>
      <p:font typeface="Lora Bold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3" d="100"/>
          <a:sy n="53" d="100"/>
        </p:scale>
        <p:origin x="140" y="-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jana Dharanikota" userId="40217a0b97f19222" providerId="LiveId" clId="{F467ACFB-4DBD-4F2C-B932-E66C0771E897}"/>
    <pc:docChg chg="undo custSel modSld">
      <pc:chgData name="Sanjana Dharanikota" userId="40217a0b97f19222" providerId="LiveId" clId="{F467ACFB-4DBD-4F2C-B932-E66C0771E897}" dt="2026-05-08T14:30:42.282" v="29" actId="113"/>
      <pc:docMkLst>
        <pc:docMk/>
      </pc:docMkLst>
      <pc:sldChg chg="modSp mod">
        <pc:chgData name="Sanjana Dharanikota" userId="40217a0b97f19222" providerId="LiveId" clId="{F467ACFB-4DBD-4F2C-B932-E66C0771E897}" dt="2026-05-08T14:30:42.282" v="29" actId="113"/>
        <pc:sldMkLst>
          <pc:docMk/>
          <pc:sldMk cId="0" sldId="257"/>
        </pc:sldMkLst>
        <pc:spChg chg="mod">
          <ac:chgData name="Sanjana Dharanikota" userId="40217a0b97f19222" providerId="LiveId" clId="{F467ACFB-4DBD-4F2C-B932-E66C0771E897}" dt="2026-05-08T14:30:35.434" v="28" actId="113"/>
          <ac:spMkLst>
            <pc:docMk/>
            <pc:sldMk cId="0" sldId="257"/>
            <ac:spMk id="7" creationId="{00000000-0000-0000-0000-000000000000}"/>
          </ac:spMkLst>
        </pc:spChg>
        <pc:spChg chg="mod">
          <ac:chgData name="Sanjana Dharanikota" userId="40217a0b97f19222" providerId="LiveId" clId="{F467ACFB-4DBD-4F2C-B932-E66C0771E897}" dt="2026-05-08T14:30:42.282" v="29" actId="113"/>
          <ac:spMkLst>
            <pc:docMk/>
            <pc:sldMk cId="0" sldId="257"/>
            <ac:spMk id="8" creationId="{00000000-0000-0000-0000-000000000000}"/>
          </ac:spMkLst>
        </pc:spChg>
      </pc:sldChg>
      <pc:sldChg chg="modSp mod">
        <pc:chgData name="Sanjana Dharanikota" userId="40217a0b97f19222" providerId="LiveId" clId="{F467ACFB-4DBD-4F2C-B932-E66C0771E897}" dt="2026-05-08T14:30:03.462" v="27" actId="5793"/>
        <pc:sldMkLst>
          <pc:docMk/>
          <pc:sldMk cId="0" sldId="262"/>
        </pc:sldMkLst>
        <pc:spChg chg="mod">
          <ac:chgData name="Sanjana Dharanikota" userId="40217a0b97f19222" providerId="LiveId" clId="{F467ACFB-4DBD-4F2C-B932-E66C0771E897}" dt="2026-05-08T14:30:03.462" v="27" actId="5793"/>
          <ac:spMkLst>
            <pc:docMk/>
            <pc:sldMk cId="0" sldId="262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92238" y="2444944"/>
            <a:ext cx="9445523" cy="43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700" b="1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Theme: Web Development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3148460"/>
            <a:ext cx="8151762" cy="3011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54"/>
              </a:lnSpc>
            </a:pPr>
            <a:r>
              <a:rPr lang="en-US" sz="4746" b="1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FRA Atlas-A WebGIS-Based Intelligent Frontier For Forest Rights Decision Support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6174429"/>
            <a:ext cx="9445523" cy="43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700" b="1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Organization: Ministry of Tribal Affairs (MoTA)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6856209"/>
            <a:ext cx="9445523" cy="1036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1700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D. Sanjana (1602-23-737-044)</a:t>
            </a:r>
          </a:p>
          <a:p>
            <a:pPr algn="r">
              <a:lnSpc>
                <a:spcPts val="2800"/>
              </a:lnSpc>
            </a:pPr>
            <a:r>
              <a:rPr lang="en-US" sz="1700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B. Shiva Sai (1602-23-737-049)</a:t>
            </a:r>
          </a:p>
          <a:p>
            <a:pPr algn="r">
              <a:lnSpc>
                <a:spcPts val="2800"/>
              </a:lnSpc>
            </a:pPr>
            <a:r>
              <a:rPr lang="en-US" sz="1700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P. Kowshika (1602-23-737-022)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277093"/>
            <a:ext cx="7590387" cy="702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4100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The Background and Challenges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260549"/>
            <a:ext cx="16303523" cy="568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600" b="1" dirty="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The Forest Rights Act (FRA), 2006 was enacted to recognize and legally ensure the land and forest resource rights of forest-dwelling Scheduled Tribes and Other Traditional Forest Dwellers.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3035198"/>
            <a:ext cx="16303523" cy="273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600" b="1" dirty="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FRA aims to correct historical injustices by conferring individual Forest Rights (IFR), Community Rights (CR), and Community Forest Resource Rights (CFRR).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3581552"/>
            <a:ext cx="4252912" cy="560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9"/>
              </a:lnSpc>
            </a:pPr>
            <a:r>
              <a:rPr lang="en-US" sz="3300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Challenges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87476" y="4376137"/>
            <a:ext cx="16313048" cy="3661172"/>
            <a:chOff x="0" y="0"/>
            <a:chExt cx="21750731" cy="488156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750782" cy="4881499"/>
            </a:xfrm>
            <a:custGeom>
              <a:avLst/>
              <a:gdLst/>
              <a:ahLst/>
              <a:cxnLst/>
              <a:rect l="l" t="t" r="r" b="b"/>
              <a:pathLst>
                <a:path w="21750782" h="4881499">
                  <a:moveTo>
                    <a:pt x="0" y="48895"/>
                  </a:moveTo>
                  <a:cubicBezTo>
                    <a:pt x="0" y="21844"/>
                    <a:pt x="21971" y="0"/>
                    <a:pt x="49022" y="0"/>
                  </a:cubicBezTo>
                  <a:lnTo>
                    <a:pt x="21701761" y="0"/>
                  </a:lnTo>
                  <a:lnTo>
                    <a:pt x="21701761" y="6350"/>
                  </a:lnTo>
                  <a:lnTo>
                    <a:pt x="21701761" y="0"/>
                  </a:lnTo>
                  <a:cubicBezTo>
                    <a:pt x="21728812" y="0"/>
                    <a:pt x="21750782" y="21844"/>
                    <a:pt x="21750782" y="48895"/>
                  </a:cubicBezTo>
                  <a:lnTo>
                    <a:pt x="21744432" y="48895"/>
                  </a:lnTo>
                  <a:lnTo>
                    <a:pt x="21750782" y="48895"/>
                  </a:lnTo>
                  <a:lnTo>
                    <a:pt x="21750782" y="4832604"/>
                  </a:lnTo>
                  <a:lnTo>
                    <a:pt x="21744432" y="4832604"/>
                  </a:lnTo>
                  <a:lnTo>
                    <a:pt x="21750782" y="4832604"/>
                  </a:lnTo>
                  <a:cubicBezTo>
                    <a:pt x="21750782" y="4859655"/>
                    <a:pt x="21728812" y="4881499"/>
                    <a:pt x="21701761" y="4881499"/>
                  </a:cubicBezTo>
                  <a:lnTo>
                    <a:pt x="21701761" y="4875149"/>
                  </a:lnTo>
                  <a:lnTo>
                    <a:pt x="21701761" y="4881499"/>
                  </a:lnTo>
                  <a:lnTo>
                    <a:pt x="49022" y="4881499"/>
                  </a:lnTo>
                  <a:lnTo>
                    <a:pt x="49022" y="4875149"/>
                  </a:lnTo>
                  <a:lnTo>
                    <a:pt x="49022" y="4881499"/>
                  </a:lnTo>
                  <a:cubicBezTo>
                    <a:pt x="21971" y="4881499"/>
                    <a:pt x="0" y="4859655"/>
                    <a:pt x="0" y="4832604"/>
                  </a:cubicBezTo>
                  <a:lnTo>
                    <a:pt x="0" y="48895"/>
                  </a:lnTo>
                  <a:lnTo>
                    <a:pt x="6350" y="48895"/>
                  </a:lnTo>
                  <a:lnTo>
                    <a:pt x="0" y="48895"/>
                  </a:lnTo>
                  <a:moveTo>
                    <a:pt x="12700" y="48895"/>
                  </a:moveTo>
                  <a:lnTo>
                    <a:pt x="12700" y="4832604"/>
                  </a:lnTo>
                  <a:lnTo>
                    <a:pt x="6350" y="4832604"/>
                  </a:lnTo>
                  <a:lnTo>
                    <a:pt x="12700" y="4832604"/>
                  </a:lnTo>
                  <a:cubicBezTo>
                    <a:pt x="12700" y="4852543"/>
                    <a:pt x="28956" y="4868799"/>
                    <a:pt x="49022" y="4868799"/>
                  </a:cubicBezTo>
                  <a:lnTo>
                    <a:pt x="21701761" y="4868799"/>
                  </a:lnTo>
                  <a:cubicBezTo>
                    <a:pt x="21721826" y="4868799"/>
                    <a:pt x="21738082" y="4852543"/>
                    <a:pt x="21738082" y="4832604"/>
                  </a:cubicBezTo>
                  <a:lnTo>
                    <a:pt x="21738082" y="48895"/>
                  </a:lnTo>
                  <a:cubicBezTo>
                    <a:pt x="21738082" y="28956"/>
                    <a:pt x="21721826" y="12700"/>
                    <a:pt x="21701761" y="12700"/>
                  </a:cubicBezTo>
                  <a:lnTo>
                    <a:pt x="49022" y="12700"/>
                  </a:lnTo>
                  <a:lnTo>
                    <a:pt x="49022" y="6350"/>
                  </a:lnTo>
                  <a:lnTo>
                    <a:pt x="49022" y="12700"/>
                  </a:lnTo>
                  <a:cubicBezTo>
                    <a:pt x="28956" y="12700"/>
                    <a:pt x="12700" y="28956"/>
                    <a:pt x="12700" y="48895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01906" y="4390434"/>
            <a:ext cx="2279752" cy="905770"/>
            <a:chOff x="0" y="0"/>
            <a:chExt cx="3039669" cy="120769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39618" cy="1207770"/>
            </a:xfrm>
            <a:custGeom>
              <a:avLst/>
              <a:gdLst/>
              <a:ahLst/>
              <a:cxnLst/>
              <a:rect l="l" t="t" r="r" b="b"/>
              <a:pathLst>
                <a:path w="3039618" h="1207770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2997073" y="0"/>
                  </a:lnTo>
                  <a:cubicBezTo>
                    <a:pt x="3020568" y="0"/>
                    <a:pt x="3039618" y="19050"/>
                    <a:pt x="3039618" y="42545"/>
                  </a:cubicBezTo>
                  <a:lnTo>
                    <a:pt x="3039618" y="1165225"/>
                  </a:lnTo>
                  <a:cubicBezTo>
                    <a:pt x="3039618" y="1188720"/>
                    <a:pt x="3020568" y="1207770"/>
                    <a:pt x="2997073" y="1207770"/>
                  </a:cubicBezTo>
                  <a:lnTo>
                    <a:pt x="42545" y="1207770"/>
                  </a:lnTo>
                  <a:cubicBezTo>
                    <a:pt x="19050" y="1207643"/>
                    <a:pt x="0" y="1188593"/>
                    <a:pt x="0" y="1165098"/>
                  </a:cubicBezTo>
                  <a:close/>
                </a:path>
              </a:pathLst>
            </a:custGeom>
            <a:solidFill>
              <a:srgbClr val="1B5E2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14438" y="4457405"/>
            <a:ext cx="1849936" cy="33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600" b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1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3281658" y="4390434"/>
            <a:ext cx="14004579" cy="905770"/>
            <a:chOff x="0" y="0"/>
            <a:chExt cx="18672772" cy="120769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672811" cy="1207643"/>
            </a:xfrm>
            <a:custGeom>
              <a:avLst/>
              <a:gdLst/>
              <a:ahLst/>
              <a:cxnLst/>
              <a:rect l="l" t="t" r="r" b="b"/>
              <a:pathLst>
                <a:path w="18672811" h="1207643">
                  <a:moveTo>
                    <a:pt x="0" y="0"/>
                  </a:moveTo>
                  <a:lnTo>
                    <a:pt x="18672811" y="0"/>
                  </a:lnTo>
                  <a:lnTo>
                    <a:pt x="18672811" y="1207643"/>
                  </a:lnTo>
                  <a:lnTo>
                    <a:pt x="0" y="1207643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498952" y="4457405"/>
            <a:ext cx="13574763" cy="33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600" b="1">
                <a:solidFill>
                  <a:srgbClr val="272525"/>
                </a:solidFill>
                <a:latin typeface="Lora Bold"/>
                <a:ea typeface="Lora Bold"/>
                <a:cs typeface="Lora Bold"/>
                <a:sym typeface="Lora Bold"/>
              </a:rPr>
              <a:t>Non-digitized and Scattered Records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498952" y="4850606"/>
            <a:ext cx="13574763" cy="33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600">
                <a:solidFill>
                  <a:srgbClr val="272525"/>
                </a:solidFill>
                <a:latin typeface="Lora"/>
                <a:ea typeface="Lora"/>
                <a:cs typeface="Lora"/>
                <a:sym typeface="Lora"/>
              </a:rPr>
              <a:t>FRA, DLC, and CFR records are fragmented, hindering easy access and verification.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01906" y="5296195"/>
            <a:ext cx="2279752" cy="910533"/>
            <a:chOff x="0" y="0"/>
            <a:chExt cx="3039669" cy="121404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039618" cy="1213993"/>
            </a:xfrm>
            <a:custGeom>
              <a:avLst/>
              <a:gdLst/>
              <a:ahLst/>
              <a:cxnLst/>
              <a:rect l="l" t="t" r="r" b="b"/>
              <a:pathLst>
                <a:path w="3039618" h="1213993">
                  <a:moveTo>
                    <a:pt x="0" y="0"/>
                  </a:moveTo>
                  <a:lnTo>
                    <a:pt x="3039618" y="0"/>
                  </a:lnTo>
                  <a:lnTo>
                    <a:pt x="3039618" y="1213993"/>
                  </a:lnTo>
                  <a:lnTo>
                    <a:pt x="0" y="1213993"/>
                  </a:lnTo>
                  <a:close/>
                </a:path>
              </a:pathLst>
            </a:custGeom>
            <a:solidFill>
              <a:srgbClr val="1B5E2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14438" y="5367928"/>
            <a:ext cx="1849936" cy="33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600" b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2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3281658" y="5296195"/>
            <a:ext cx="14004579" cy="910533"/>
            <a:chOff x="0" y="0"/>
            <a:chExt cx="18672772" cy="121404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8672811" cy="1213993"/>
            </a:xfrm>
            <a:custGeom>
              <a:avLst/>
              <a:gdLst/>
              <a:ahLst/>
              <a:cxnLst/>
              <a:rect l="l" t="t" r="r" b="b"/>
              <a:pathLst>
                <a:path w="18672811" h="1213993">
                  <a:moveTo>
                    <a:pt x="0" y="0"/>
                  </a:moveTo>
                  <a:lnTo>
                    <a:pt x="18672811" y="0"/>
                  </a:lnTo>
                  <a:lnTo>
                    <a:pt x="18672811" y="1213993"/>
                  </a:lnTo>
                  <a:lnTo>
                    <a:pt x="0" y="1213993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498952" y="5367928"/>
            <a:ext cx="13574763" cy="33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600" b="1">
                <a:solidFill>
                  <a:srgbClr val="272525"/>
                </a:solidFill>
                <a:latin typeface="Lora Bold"/>
                <a:ea typeface="Lora Bold"/>
                <a:cs typeface="Lora Bold"/>
                <a:sym typeface="Lora Bold"/>
              </a:rPr>
              <a:t>Absence of Centralized Monitoring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498952" y="5761139"/>
            <a:ext cx="13574763" cy="33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600">
                <a:solidFill>
                  <a:srgbClr val="272525"/>
                </a:solidFill>
                <a:latin typeface="Lora"/>
                <a:ea typeface="Lora"/>
                <a:cs typeface="Lora"/>
                <a:sym typeface="Lora"/>
              </a:rPr>
              <a:t>There is no unified system to track and oversee FRA implementation progress.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01906" y="6206728"/>
            <a:ext cx="2279752" cy="910533"/>
            <a:chOff x="0" y="0"/>
            <a:chExt cx="3039669" cy="121404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039618" cy="1213993"/>
            </a:xfrm>
            <a:custGeom>
              <a:avLst/>
              <a:gdLst/>
              <a:ahLst/>
              <a:cxnLst/>
              <a:rect l="l" t="t" r="r" b="b"/>
              <a:pathLst>
                <a:path w="3039618" h="1213993">
                  <a:moveTo>
                    <a:pt x="0" y="0"/>
                  </a:moveTo>
                  <a:lnTo>
                    <a:pt x="3039618" y="0"/>
                  </a:lnTo>
                  <a:lnTo>
                    <a:pt x="3039618" y="1213993"/>
                  </a:lnTo>
                  <a:lnTo>
                    <a:pt x="0" y="1213993"/>
                  </a:lnTo>
                  <a:close/>
                </a:path>
              </a:pathLst>
            </a:custGeom>
            <a:solidFill>
              <a:srgbClr val="1B5E2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214438" y="6278461"/>
            <a:ext cx="1849936" cy="33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600" b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3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3281658" y="6206728"/>
            <a:ext cx="14004579" cy="910533"/>
            <a:chOff x="0" y="0"/>
            <a:chExt cx="18672772" cy="121404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8672811" cy="1213993"/>
            </a:xfrm>
            <a:custGeom>
              <a:avLst/>
              <a:gdLst/>
              <a:ahLst/>
              <a:cxnLst/>
              <a:rect l="l" t="t" r="r" b="b"/>
              <a:pathLst>
                <a:path w="18672811" h="1213993">
                  <a:moveTo>
                    <a:pt x="0" y="0"/>
                  </a:moveTo>
                  <a:lnTo>
                    <a:pt x="18672811" y="0"/>
                  </a:lnTo>
                  <a:lnTo>
                    <a:pt x="18672811" y="1213993"/>
                  </a:lnTo>
                  <a:lnTo>
                    <a:pt x="0" y="1213993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3498952" y="6278461"/>
            <a:ext cx="13574763" cy="33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600" b="1">
                <a:solidFill>
                  <a:srgbClr val="272525"/>
                </a:solidFill>
                <a:latin typeface="Lora Bold"/>
                <a:ea typeface="Lora Bold"/>
                <a:cs typeface="Lora Bold"/>
                <a:sym typeface="Lora Bold"/>
              </a:rPr>
              <a:t>Lack of Spatial Data Integration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498952" y="6671672"/>
            <a:ext cx="13574763" cy="33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600">
                <a:solidFill>
                  <a:srgbClr val="272525"/>
                </a:solidFill>
                <a:latin typeface="Lora"/>
                <a:ea typeface="Lora"/>
                <a:cs typeface="Lora"/>
                <a:sym typeface="Lora"/>
              </a:rPr>
              <a:t>Claims are not integrated with geographical/spatial and social data for clear boundaries.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001906" y="7117261"/>
            <a:ext cx="2279752" cy="905770"/>
            <a:chOff x="0" y="0"/>
            <a:chExt cx="3039669" cy="120769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039618" cy="1207643"/>
            </a:xfrm>
            <a:custGeom>
              <a:avLst/>
              <a:gdLst/>
              <a:ahLst/>
              <a:cxnLst/>
              <a:rect l="l" t="t" r="r" b="b"/>
              <a:pathLst>
                <a:path w="3039618" h="1207643">
                  <a:moveTo>
                    <a:pt x="0" y="0"/>
                  </a:moveTo>
                  <a:lnTo>
                    <a:pt x="3039618" y="0"/>
                  </a:lnTo>
                  <a:lnTo>
                    <a:pt x="3039618" y="1207643"/>
                  </a:lnTo>
                  <a:lnTo>
                    <a:pt x="0" y="1207643"/>
                  </a:lnTo>
                  <a:close/>
                </a:path>
              </a:pathLst>
            </a:custGeom>
            <a:solidFill>
              <a:srgbClr val="1B5E2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214438" y="7188994"/>
            <a:ext cx="1849936" cy="33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600" b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4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3281658" y="7117261"/>
            <a:ext cx="14004579" cy="905770"/>
            <a:chOff x="0" y="0"/>
            <a:chExt cx="18672772" cy="120769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8672811" cy="1207643"/>
            </a:xfrm>
            <a:custGeom>
              <a:avLst/>
              <a:gdLst/>
              <a:ahLst/>
              <a:cxnLst/>
              <a:rect l="l" t="t" r="r" b="b"/>
              <a:pathLst>
                <a:path w="18672811" h="1207643">
                  <a:moveTo>
                    <a:pt x="0" y="0"/>
                  </a:moveTo>
                  <a:lnTo>
                    <a:pt x="18672811" y="0"/>
                  </a:lnTo>
                  <a:lnTo>
                    <a:pt x="18672811" y="1207643"/>
                  </a:lnTo>
                  <a:lnTo>
                    <a:pt x="0" y="1207643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3498952" y="7188994"/>
            <a:ext cx="13574763" cy="33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600" b="1">
                <a:solidFill>
                  <a:srgbClr val="272525"/>
                </a:solidFill>
                <a:latin typeface="Lora Bold"/>
                <a:ea typeface="Lora Bold"/>
                <a:cs typeface="Lora Bold"/>
                <a:sym typeface="Lora Bold"/>
              </a:rPr>
              <a:t>Manual Decision-Making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498952" y="7582195"/>
            <a:ext cx="13574763" cy="33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600">
                <a:solidFill>
                  <a:srgbClr val="272525"/>
                </a:solidFill>
                <a:latin typeface="Lora"/>
                <a:ea typeface="Lora"/>
                <a:cs typeface="Lora"/>
                <a:sym typeface="Lora"/>
              </a:rPr>
              <a:t>Reliance on development schemes relies on manual processes, lacking efficiency.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992238" y="8211893"/>
            <a:ext cx="16303523" cy="759914"/>
            <a:chOff x="0" y="0"/>
            <a:chExt cx="21738031" cy="10132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1738082" cy="1013206"/>
            </a:xfrm>
            <a:custGeom>
              <a:avLst/>
              <a:gdLst/>
              <a:ahLst/>
              <a:cxnLst/>
              <a:rect l="l" t="t" r="r" b="b"/>
              <a:pathLst>
                <a:path w="21738082" h="1013206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21695538" y="0"/>
                  </a:lnTo>
                  <a:cubicBezTo>
                    <a:pt x="21719032" y="0"/>
                    <a:pt x="21738082" y="19050"/>
                    <a:pt x="21738082" y="42545"/>
                  </a:cubicBezTo>
                  <a:lnTo>
                    <a:pt x="21738082" y="970661"/>
                  </a:lnTo>
                  <a:cubicBezTo>
                    <a:pt x="21738082" y="994156"/>
                    <a:pt x="21719032" y="1013206"/>
                    <a:pt x="21695538" y="1013206"/>
                  </a:cubicBezTo>
                  <a:lnTo>
                    <a:pt x="42545" y="1013206"/>
                  </a:lnTo>
                  <a:cubicBezTo>
                    <a:pt x="19050" y="1013206"/>
                    <a:pt x="0" y="994156"/>
                    <a:pt x="0" y="970661"/>
                  </a:cubicBezTo>
                  <a:close/>
                </a:path>
              </a:pathLst>
            </a:custGeom>
            <a:solidFill>
              <a:srgbClr val="C3EED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204760" y="8510588"/>
            <a:ext cx="265805" cy="212522"/>
            <a:chOff x="0" y="0"/>
            <a:chExt cx="354406" cy="283362"/>
          </a:xfrm>
        </p:grpSpPr>
        <p:sp>
          <p:nvSpPr>
            <p:cNvPr id="43" name="Freeform 43" descr="preencoded.png"/>
            <p:cNvSpPr/>
            <p:nvPr/>
          </p:nvSpPr>
          <p:spPr>
            <a:xfrm>
              <a:off x="0" y="0"/>
              <a:ext cx="354457" cy="283337"/>
            </a:xfrm>
            <a:custGeom>
              <a:avLst/>
              <a:gdLst/>
              <a:ahLst/>
              <a:cxnLst/>
              <a:rect l="l" t="t" r="r" b="b"/>
              <a:pathLst>
                <a:path w="354457" h="283337">
                  <a:moveTo>
                    <a:pt x="0" y="0"/>
                  </a:moveTo>
                  <a:lnTo>
                    <a:pt x="354457" y="0"/>
                  </a:lnTo>
                  <a:lnTo>
                    <a:pt x="354457" y="283337"/>
                  </a:lnTo>
                  <a:lnTo>
                    <a:pt x="0" y="283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81" r="-867" b="-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683096" y="8386315"/>
            <a:ext cx="15400144" cy="33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600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These gaps limit transparency, verification, and targeted development.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887606"/>
            <a:ext cx="6025010" cy="791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99"/>
              </a:lnSpc>
            </a:pPr>
            <a:r>
              <a:rPr lang="en-US" sz="4700">
                <a:solidFill>
                  <a:srgbClr val="233E32"/>
                </a:solidFill>
                <a:latin typeface="Alice Bold"/>
                <a:ea typeface="Alice Bold"/>
                <a:cs typeface="Alice Bold"/>
                <a:sym typeface="Alice Bold"/>
              </a:rPr>
              <a:t>Existing Solutions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7476" y="2083594"/>
            <a:ext cx="16313048" cy="3309042"/>
            <a:chOff x="0" y="0"/>
            <a:chExt cx="21750731" cy="44120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50782" cy="4412107"/>
            </a:xfrm>
            <a:custGeom>
              <a:avLst/>
              <a:gdLst/>
              <a:ahLst/>
              <a:cxnLst/>
              <a:rect l="l" t="t" r="r" b="b"/>
              <a:pathLst>
                <a:path w="21750782" h="4412107">
                  <a:moveTo>
                    <a:pt x="0" y="54610"/>
                  </a:moveTo>
                  <a:cubicBezTo>
                    <a:pt x="0" y="24384"/>
                    <a:pt x="24511" y="0"/>
                    <a:pt x="54737" y="0"/>
                  </a:cubicBezTo>
                  <a:lnTo>
                    <a:pt x="21696045" y="0"/>
                  </a:lnTo>
                  <a:lnTo>
                    <a:pt x="21696045" y="6350"/>
                  </a:lnTo>
                  <a:lnTo>
                    <a:pt x="21696045" y="0"/>
                  </a:lnTo>
                  <a:cubicBezTo>
                    <a:pt x="21726271" y="0"/>
                    <a:pt x="21750782" y="24384"/>
                    <a:pt x="21750782" y="54610"/>
                  </a:cubicBezTo>
                  <a:lnTo>
                    <a:pt x="21744432" y="54610"/>
                  </a:lnTo>
                  <a:lnTo>
                    <a:pt x="21750782" y="54610"/>
                  </a:lnTo>
                  <a:lnTo>
                    <a:pt x="21750782" y="4357497"/>
                  </a:lnTo>
                  <a:lnTo>
                    <a:pt x="21744432" y="4357497"/>
                  </a:lnTo>
                  <a:lnTo>
                    <a:pt x="21750782" y="4357497"/>
                  </a:lnTo>
                  <a:cubicBezTo>
                    <a:pt x="21750782" y="4387596"/>
                    <a:pt x="21726271" y="4412107"/>
                    <a:pt x="21696045" y="4412107"/>
                  </a:cubicBezTo>
                  <a:lnTo>
                    <a:pt x="21696045" y="4405757"/>
                  </a:lnTo>
                  <a:lnTo>
                    <a:pt x="21696045" y="4412107"/>
                  </a:lnTo>
                  <a:lnTo>
                    <a:pt x="54737" y="4412107"/>
                  </a:lnTo>
                  <a:lnTo>
                    <a:pt x="54737" y="4405757"/>
                  </a:lnTo>
                  <a:lnTo>
                    <a:pt x="54737" y="4412107"/>
                  </a:lnTo>
                  <a:cubicBezTo>
                    <a:pt x="24511" y="4412107"/>
                    <a:pt x="0" y="4387723"/>
                    <a:pt x="0" y="4357497"/>
                  </a:cubicBezTo>
                  <a:lnTo>
                    <a:pt x="0" y="54610"/>
                  </a:lnTo>
                  <a:lnTo>
                    <a:pt x="6350" y="54610"/>
                  </a:lnTo>
                  <a:lnTo>
                    <a:pt x="0" y="54610"/>
                  </a:lnTo>
                  <a:moveTo>
                    <a:pt x="12700" y="54610"/>
                  </a:moveTo>
                  <a:lnTo>
                    <a:pt x="12700" y="4357497"/>
                  </a:lnTo>
                  <a:lnTo>
                    <a:pt x="6350" y="4357497"/>
                  </a:lnTo>
                  <a:lnTo>
                    <a:pt x="12700" y="4357497"/>
                  </a:lnTo>
                  <a:cubicBezTo>
                    <a:pt x="12700" y="4380611"/>
                    <a:pt x="31496" y="4399407"/>
                    <a:pt x="54737" y="4399407"/>
                  </a:cubicBezTo>
                  <a:lnTo>
                    <a:pt x="21696045" y="4399407"/>
                  </a:lnTo>
                  <a:cubicBezTo>
                    <a:pt x="21719285" y="4399407"/>
                    <a:pt x="21738082" y="4380611"/>
                    <a:pt x="21738082" y="4357497"/>
                  </a:cubicBezTo>
                  <a:lnTo>
                    <a:pt x="21738082" y="54610"/>
                  </a:lnTo>
                  <a:cubicBezTo>
                    <a:pt x="21738082" y="31496"/>
                    <a:pt x="21719285" y="12700"/>
                    <a:pt x="21696045" y="12700"/>
                  </a:cubicBezTo>
                  <a:lnTo>
                    <a:pt x="54737" y="12700"/>
                  </a:lnTo>
                  <a:lnTo>
                    <a:pt x="54737" y="6350"/>
                  </a:lnTo>
                  <a:lnTo>
                    <a:pt x="54737" y="12700"/>
                  </a:lnTo>
                  <a:cubicBezTo>
                    <a:pt x="31496" y="12700"/>
                    <a:pt x="12700" y="31496"/>
                    <a:pt x="12700" y="5461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2059" y="2097881"/>
            <a:ext cx="5373738" cy="625973"/>
            <a:chOff x="0" y="0"/>
            <a:chExt cx="7164984" cy="83463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165086" cy="834644"/>
            </a:xfrm>
            <a:custGeom>
              <a:avLst/>
              <a:gdLst/>
              <a:ahLst/>
              <a:cxnLst/>
              <a:rect l="l" t="t" r="r" b="b"/>
              <a:pathLst>
                <a:path w="7165086" h="834644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7116826" y="0"/>
                  </a:lnTo>
                  <a:cubicBezTo>
                    <a:pt x="7143496" y="0"/>
                    <a:pt x="7165086" y="21590"/>
                    <a:pt x="7165086" y="48260"/>
                  </a:cubicBezTo>
                  <a:lnTo>
                    <a:pt x="7165086" y="786384"/>
                  </a:lnTo>
                  <a:cubicBezTo>
                    <a:pt x="7165086" y="813054"/>
                    <a:pt x="7143496" y="834644"/>
                    <a:pt x="7116826" y="834644"/>
                  </a:cubicBezTo>
                  <a:lnTo>
                    <a:pt x="48260" y="834644"/>
                  </a:lnTo>
                  <a:cubicBezTo>
                    <a:pt x="21590" y="834644"/>
                    <a:pt x="0" y="813054"/>
                    <a:pt x="0" y="786384"/>
                  </a:cubicBezTo>
                  <a:close/>
                </a:path>
              </a:pathLst>
            </a:custGeom>
            <a:solidFill>
              <a:srgbClr val="1B5E2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43012" y="2173043"/>
            <a:ext cx="4887068" cy="413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800" b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1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375797" y="2097881"/>
            <a:ext cx="5373738" cy="625973"/>
            <a:chOff x="0" y="0"/>
            <a:chExt cx="7164984" cy="83463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164959" cy="834644"/>
            </a:xfrm>
            <a:custGeom>
              <a:avLst/>
              <a:gdLst/>
              <a:ahLst/>
              <a:cxnLst/>
              <a:rect l="l" t="t" r="r" b="b"/>
              <a:pathLst>
                <a:path w="7164959" h="834644">
                  <a:moveTo>
                    <a:pt x="0" y="0"/>
                  </a:moveTo>
                  <a:lnTo>
                    <a:pt x="7164959" y="0"/>
                  </a:lnTo>
                  <a:lnTo>
                    <a:pt x="7164959" y="834644"/>
                  </a:lnTo>
                  <a:lnTo>
                    <a:pt x="0" y="834644"/>
                  </a:lnTo>
                  <a:close/>
                </a:path>
              </a:pathLst>
            </a:custGeom>
            <a:solidFill>
              <a:srgbClr val="1B5E2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21513" y="2173043"/>
            <a:ext cx="4882305" cy="413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800" b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2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749535" y="2097881"/>
            <a:ext cx="5536702" cy="625973"/>
            <a:chOff x="0" y="0"/>
            <a:chExt cx="7382269" cy="83463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382256" cy="834644"/>
            </a:xfrm>
            <a:custGeom>
              <a:avLst/>
              <a:gdLst/>
              <a:ahLst/>
              <a:cxnLst/>
              <a:rect l="l" t="t" r="r" b="b"/>
              <a:pathLst>
                <a:path w="7382256" h="834644">
                  <a:moveTo>
                    <a:pt x="0" y="0"/>
                  </a:moveTo>
                  <a:lnTo>
                    <a:pt x="7382256" y="0"/>
                  </a:lnTo>
                  <a:lnTo>
                    <a:pt x="7382256" y="834644"/>
                  </a:lnTo>
                  <a:lnTo>
                    <a:pt x="0" y="834644"/>
                  </a:lnTo>
                  <a:close/>
                </a:path>
              </a:pathLst>
            </a:custGeom>
            <a:solidFill>
              <a:srgbClr val="1B5E2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995252" y="2173043"/>
            <a:ext cx="5050041" cy="413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800" b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3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02059" y="2723855"/>
            <a:ext cx="5373738" cy="2654494"/>
            <a:chOff x="0" y="0"/>
            <a:chExt cx="7164984" cy="35393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164959" cy="3539363"/>
            </a:xfrm>
            <a:custGeom>
              <a:avLst/>
              <a:gdLst/>
              <a:ahLst/>
              <a:cxnLst/>
              <a:rect l="l" t="t" r="r" b="b"/>
              <a:pathLst>
                <a:path w="7164959" h="3539363">
                  <a:moveTo>
                    <a:pt x="0" y="0"/>
                  </a:moveTo>
                  <a:lnTo>
                    <a:pt x="7164959" y="0"/>
                  </a:lnTo>
                  <a:lnTo>
                    <a:pt x="7164959" y="3539363"/>
                  </a:lnTo>
                  <a:lnTo>
                    <a:pt x="0" y="3539363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43012" y="2803769"/>
            <a:ext cx="4887068" cy="413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b="1">
                <a:solidFill>
                  <a:srgbClr val="272525"/>
                </a:solidFill>
                <a:latin typeface="Lora Bold"/>
                <a:ea typeface="Lora Bold"/>
                <a:cs typeface="Lora Bold"/>
                <a:sym typeface="Lora Bold"/>
              </a:rPr>
              <a:t>Manual Record Management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3012" y="3283144"/>
            <a:ext cx="4887068" cy="770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b="1">
                <a:solidFill>
                  <a:srgbClr val="272525"/>
                </a:solidFill>
                <a:latin typeface="Lora Bold"/>
                <a:ea typeface="Lora Bold"/>
                <a:cs typeface="Lora Bold"/>
                <a:sym typeface="Lora Bold"/>
              </a:rPr>
              <a:t>FRA claims and approvals maintained in physical files and district registries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43012" y="4119115"/>
            <a:ext cx="4887068" cy="770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b="1">
                <a:solidFill>
                  <a:srgbClr val="272525"/>
                </a:solidFill>
                <a:latin typeface="Lora Bold"/>
                <a:ea typeface="Lora Bold"/>
                <a:cs typeface="Lora Bold"/>
                <a:sym typeface="Lora Bold"/>
              </a:rPr>
              <a:t>Time-consuming, error-prone, and effort, causing delays and errors.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375797" y="2723855"/>
            <a:ext cx="5373738" cy="2654494"/>
            <a:chOff x="0" y="0"/>
            <a:chExt cx="7164984" cy="353932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164959" cy="3539363"/>
            </a:xfrm>
            <a:custGeom>
              <a:avLst/>
              <a:gdLst/>
              <a:ahLst/>
              <a:cxnLst/>
              <a:rect l="l" t="t" r="r" b="b"/>
              <a:pathLst>
                <a:path w="7164959" h="3539363">
                  <a:moveTo>
                    <a:pt x="0" y="0"/>
                  </a:moveTo>
                  <a:lnTo>
                    <a:pt x="7164959" y="0"/>
                  </a:lnTo>
                  <a:lnTo>
                    <a:pt x="7164959" y="3539363"/>
                  </a:lnTo>
                  <a:lnTo>
                    <a:pt x="0" y="3539363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621513" y="2803769"/>
            <a:ext cx="4882305" cy="413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b="1">
                <a:solidFill>
                  <a:srgbClr val="272525"/>
                </a:solidFill>
                <a:latin typeface="Lora Bold"/>
                <a:ea typeface="Lora Bold"/>
                <a:cs typeface="Lora Bold"/>
                <a:sym typeface="Lora Bold"/>
              </a:rPr>
              <a:t>State-Level FRA Portals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21513" y="3283144"/>
            <a:ext cx="4882305" cy="770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b="1">
                <a:solidFill>
                  <a:srgbClr val="272525"/>
                </a:solidFill>
                <a:latin typeface="Lora Bold"/>
                <a:ea typeface="Lora Bold"/>
                <a:cs typeface="Lora Bold"/>
                <a:sym typeface="Lora Bold"/>
              </a:rPr>
              <a:t>Basic portals display claim statistics and data updates for some states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21513" y="4119115"/>
            <a:ext cx="4882305" cy="770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b="1">
                <a:solidFill>
                  <a:srgbClr val="272525"/>
                </a:solidFill>
                <a:latin typeface="Lora Bold"/>
                <a:ea typeface="Lora Bold"/>
                <a:cs typeface="Lora Bold"/>
                <a:sym typeface="Lora Bold"/>
              </a:rPr>
              <a:t>Limited integration with spatial data and asset-level integration.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1749535" y="2723855"/>
            <a:ext cx="5536702" cy="2654494"/>
            <a:chOff x="0" y="0"/>
            <a:chExt cx="7382269" cy="353932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382256" cy="3539363"/>
            </a:xfrm>
            <a:custGeom>
              <a:avLst/>
              <a:gdLst/>
              <a:ahLst/>
              <a:cxnLst/>
              <a:rect l="l" t="t" r="r" b="b"/>
              <a:pathLst>
                <a:path w="7382256" h="3539363">
                  <a:moveTo>
                    <a:pt x="0" y="0"/>
                  </a:moveTo>
                  <a:lnTo>
                    <a:pt x="7382256" y="0"/>
                  </a:lnTo>
                  <a:lnTo>
                    <a:pt x="7382256" y="3539363"/>
                  </a:lnTo>
                  <a:lnTo>
                    <a:pt x="0" y="3539363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995252" y="2803769"/>
            <a:ext cx="5050041" cy="770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b="1">
                <a:solidFill>
                  <a:srgbClr val="272525"/>
                </a:solidFill>
                <a:latin typeface="Lora Bold"/>
                <a:ea typeface="Lora Bold"/>
                <a:cs typeface="Lora Bold"/>
                <a:sym typeface="Lora Bold"/>
              </a:rPr>
              <a:t>Government MIS (Monitoring Information System)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995252" y="3639741"/>
            <a:ext cx="5050041" cy="770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b="1">
                <a:solidFill>
                  <a:srgbClr val="272525"/>
                </a:solidFill>
                <a:latin typeface="Lora Bold"/>
                <a:ea typeface="Lora Bold"/>
                <a:cs typeface="Lora Bold"/>
                <a:sym typeface="Lora Bold"/>
              </a:rPr>
              <a:t>Ministry distributes annual progress reports and data aggregation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995252" y="4475712"/>
            <a:ext cx="5050041" cy="770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b="1">
                <a:solidFill>
                  <a:srgbClr val="272525"/>
                </a:solidFill>
                <a:latin typeface="Lora Bold"/>
                <a:ea typeface="Lora Bold"/>
                <a:cs typeface="Lora Bold"/>
                <a:sym typeface="Lora Bold"/>
              </a:rPr>
              <a:t>No direct integration with GIS layers or satellite-based asset mapping.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87476" y="5613502"/>
            <a:ext cx="16313048" cy="2239270"/>
            <a:chOff x="0" y="0"/>
            <a:chExt cx="21750731" cy="298569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750782" cy="2985643"/>
            </a:xfrm>
            <a:custGeom>
              <a:avLst/>
              <a:gdLst/>
              <a:ahLst/>
              <a:cxnLst/>
              <a:rect l="l" t="t" r="r" b="b"/>
              <a:pathLst>
                <a:path w="21750782" h="2985643">
                  <a:moveTo>
                    <a:pt x="0" y="54483"/>
                  </a:moveTo>
                  <a:cubicBezTo>
                    <a:pt x="0" y="24384"/>
                    <a:pt x="24511" y="0"/>
                    <a:pt x="54737" y="0"/>
                  </a:cubicBezTo>
                  <a:lnTo>
                    <a:pt x="21696045" y="0"/>
                  </a:lnTo>
                  <a:lnTo>
                    <a:pt x="21696045" y="6350"/>
                  </a:lnTo>
                  <a:lnTo>
                    <a:pt x="21696045" y="0"/>
                  </a:lnTo>
                  <a:cubicBezTo>
                    <a:pt x="21726271" y="0"/>
                    <a:pt x="21750782" y="24384"/>
                    <a:pt x="21750782" y="54483"/>
                  </a:cubicBezTo>
                  <a:lnTo>
                    <a:pt x="21744432" y="54483"/>
                  </a:lnTo>
                  <a:lnTo>
                    <a:pt x="21750782" y="54483"/>
                  </a:lnTo>
                  <a:lnTo>
                    <a:pt x="21750782" y="2931160"/>
                  </a:lnTo>
                  <a:lnTo>
                    <a:pt x="21744432" y="2931160"/>
                  </a:lnTo>
                  <a:lnTo>
                    <a:pt x="21750782" y="2931160"/>
                  </a:lnTo>
                  <a:cubicBezTo>
                    <a:pt x="21750782" y="2961259"/>
                    <a:pt x="21726271" y="2985643"/>
                    <a:pt x="21696045" y="2985643"/>
                  </a:cubicBezTo>
                  <a:lnTo>
                    <a:pt x="21696045" y="2979293"/>
                  </a:lnTo>
                  <a:lnTo>
                    <a:pt x="21696045" y="2985643"/>
                  </a:lnTo>
                  <a:lnTo>
                    <a:pt x="54737" y="2985643"/>
                  </a:lnTo>
                  <a:lnTo>
                    <a:pt x="54737" y="2979293"/>
                  </a:lnTo>
                  <a:lnTo>
                    <a:pt x="54737" y="2985643"/>
                  </a:lnTo>
                  <a:cubicBezTo>
                    <a:pt x="24511" y="2985643"/>
                    <a:pt x="0" y="2961259"/>
                    <a:pt x="0" y="2931160"/>
                  </a:cubicBezTo>
                  <a:lnTo>
                    <a:pt x="0" y="54483"/>
                  </a:lnTo>
                  <a:lnTo>
                    <a:pt x="6350" y="54483"/>
                  </a:lnTo>
                  <a:lnTo>
                    <a:pt x="0" y="54483"/>
                  </a:lnTo>
                  <a:moveTo>
                    <a:pt x="12700" y="54483"/>
                  </a:moveTo>
                  <a:lnTo>
                    <a:pt x="12700" y="2931160"/>
                  </a:lnTo>
                  <a:lnTo>
                    <a:pt x="6350" y="2931160"/>
                  </a:lnTo>
                  <a:lnTo>
                    <a:pt x="12700" y="2931160"/>
                  </a:lnTo>
                  <a:cubicBezTo>
                    <a:pt x="12700" y="2954274"/>
                    <a:pt x="31496" y="2972943"/>
                    <a:pt x="54737" y="2972943"/>
                  </a:cubicBezTo>
                  <a:lnTo>
                    <a:pt x="21696045" y="2972943"/>
                  </a:lnTo>
                  <a:cubicBezTo>
                    <a:pt x="21719285" y="2972943"/>
                    <a:pt x="21738082" y="2954147"/>
                    <a:pt x="21738082" y="2931160"/>
                  </a:cubicBezTo>
                  <a:lnTo>
                    <a:pt x="21738082" y="54483"/>
                  </a:lnTo>
                  <a:cubicBezTo>
                    <a:pt x="21738082" y="31369"/>
                    <a:pt x="21719285" y="12700"/>
                    <a:pt x="21696045" y="12700"/>
                  </a:cubicBezTo>
                  <a:lnTo>
                    <a:pt x="54737" y="12700"/>
                  </a:lnTo>
                  <a:lnTo>
                    <a:pt x="54737" y="6350"/>
                  </a:lnTo>
                  <a:lnTo>
                    <a:pt x="54737" y="12700"/>
                  </a:lnTo>
                  <a:cubicBezTo>
                    <a:pt x="31496" y="12700"/>
                    <a:pt x="12700" y="31496"/>
                    <a:pt x="12700" y="54483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01763" y="5627789"/>
            <a:ext cx="8142237" cy="625973"/>
            <a:chOff x="0" y="0"/>
            <a:chExt cx="10856316" cy="83463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856341" cy="834644"/>
            </a:xfrm>
            <a:custGeom>
              <a:avLst/>
              <a:gdLst/>
              <a:ahLst/>
              <a:cxnLst/>
              <a:rect l="l" t="t" r="r" b="b"/>
              <a:pathLst>
                <a:path w="10856341" h="834644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10808081" y="0"/>
                  </a:lnTo>
                  <a:cubicBezTo>
                    <a:pt x="10834751" y="0"/>
                    <a:pt x="10856341" y="21590"/>
                    <a:pt x="10856341" y="48260"/>
                  </a:cubicBezTo>
                  <a:lnTo>
                    <a:pt x="10856341" y="786384"/>
                  </a:lnTo>
                  <a:cubicBezTo>
                    <a:pt x="10856341" y="813054"/>
                    <a:pt x="10834751" y="834644"/>
                    <a:pt x="10808081" y="834644"/>
                  </a:cubicBezTo>
                  <a:lnTo>
                    <a:pt x="48260" y="834644"/>
                  </a:lnTo>
                  <a:cubicBezTo>
                    <a:pt x="21590" y="834644"/>
                    <a:pt x="0" y="813054"/>
                    <a:pt x="0" y="786384"/>
                  </a:cubicBezTo>
                  <a:close/>
                </a:path>
              </a:pathLst>
            </a:custGeom>
            <a:solidFill>
              <a:srgbClr val="1B5E2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242717" y="5702941"/>
            <a:ext cx="7655566" cy="413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800" b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4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9144000" y="5627789"/>
            <a:ext cx="8142237" cy="625973"/>
            <a:chOff x="0" y="0"/>
            <a:chExt cx="10856316" cy="83463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856341" cy="834644"/>
            </a:xfrm>
            <a:custGeom>
              <a:avLst/>
              <a:gdLst/>
              <a:ahLst/>
              <a:cxnLst/>
              <a:rect l="l" t="t" r="r" b="b"/>
              <a:pathLst>
                <a:path w="10856341" h="834644">
                  <a:moveTo>
                    <a:pt x="0" y="0"/>
                  </a:moveTo>
                  <a:lnTo>
                    <a:pt x="10856341" y="0"/>
                  </a:lnTo>
                  <a:lnTo>
                    <a:pt x="10856341" y="834644"/>
                  </a:lnTo>
                  <a:lnTo>
                    <a:pt x="0" y="834644"/>
                  </a:lnTo>
                  <a:close/>
                </a:path>
              </a:pathLst>
            </a:custGeom>
            <a:solidFill>
              <a:srgbClr val="1B5E2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9389716" y="5702941"/>
            <a:ext cx="7655566" cy="413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800" b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5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001763" y="6253763"/>
            <a:ext cx="8142237" cy="1584722"/>
            <a:chOff x="0" y="0"/>
            <a:chExt cx="10856316" cy="211296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856341" cy="2113026"/>
            </a:xfrm>
            <a:custGeom>
              <a:avLst/>
              <a:gdLst/>
              <a:ahLst/>
              <a:cxnLst/>
              <a:rect l="l" t="t" r="r" b="b"/>
              <a:pathLst>
                <a:path w="10856341" h="2113026">
                  <a:moveTo>
                    <a:pt x="0" y="0"/>
                  </a:moveTo>
                  <a:lnTo>
                    <a:pt x="10856341" y="0"/>
                  </a:lnTo>
                  <a:lnTo>
                    <a:pt x="10856341" y="2113026"/>
                  </a:lnTo>
                  <a:lnTo>
                    <a:pt x="0" y="2113026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242717" y="6333677"/>
            <a:ext cx="7655566" cy="413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b="1">
                <a:solidFill>
                  <a:srgbClr val="272525"/>
                </a:solidFill>
                <a:latin typeface="Lora Bold"/>
                <a:ea typeface="Lora Bold"/>
                <a:cs typeface="Lora Bold"/>
                <a:sym typeface="Lora Bold"/>
              </a:rPr>
              <a:t>GIS-Based Planning Tools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42717" y="6813052"/>
            <a:ext cx="7655566" cy="413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b="1">
                <a:solidFill>
                  <a:srgbClr val="272525"/>
                </a:solidFill>
                <a:latin typeface="Lora Bold"/>
                <a:ea typeface="Lora Bold"/>
                <a:cs typeface="Lora Bold"/>
                <a:sym typeface="Lora Bold"/>
              </a:rPr>
              <a:t>Standalone GIS tools used for land use planning and monitoring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42717" y="7292426"/>
            <a:ext cx="7655566" cy="413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b="1">
                <a:solidFill>
                  <a:srgbClr val="272525"/>
                </a:solidFill>
                <a:latin typeface="Lora Bold"/>
                <a:ea typeface="Lora Bold"/>
                <a:cs typeface="Lora Bold"/>
                <a:sym typeface="Lora Bold"/>
              </a:rPr>
              <a:t>Not linked to FRA claim records or scheme effectiveness tracking.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144000" y="6253763"/>
            <a:ext cx="8142237" cy="1584722"/>
            <a:chOff x="0" y="0"/>
            <a:chExt cx="10856316" cy="211296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856341" cy="2113026"/>
            </a:xfrm>
            <a:custGeom>
              <a:avLst/>
              <a:gdLst/>
              <a:ahLst/>
              <a:cxnLst/>
              <a:rect l="l" t="t" r="r" b="b"/>
              <a:pathLst>
                <a:path w="10856341" h="2113026">
                  <a:moveTo>
                    <a:pt x="0" y="0"/>
                  </a:moveTo>
                  <a:lnTo>
                    <a:pt x="10856341" y="0"/>
                  </a:lnTo>
                  <a:lnTo>
                    <a:pt x="10856341" y="2113026"/>
                  </a:lnTo>
                  <a:lnTo>
                    <a:pt x="0" y="2113026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9389716" y="6333677"/>
            <a:ext cx="7655566" cy="413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b="1">
                <a:solidFill>
                  <a:srgbClr val="272525"/>
                </a:solidFill>
                <a:latin typeface="Lora Bold"/>
                <a:ea typeface="Lora Bold"/>
                <a:cs typeface="Lora Bold"/>
                <a:sym typeface="Lora Bold"/>
              </a:rPr>
              <a:t>Scheme Management Portals (PM-KISAN, MGNREGA, etc.)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389716" y="6813052"/>
            <a:ext cx="7655566" cy="413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b="1">
                <a:solidFill>
                  <a:srgbClr val="272525"/>
                </a:solidFill>
                <a:latin typeface="Lora Bold"/>
                <a:ea typeface="Lora Bold"/>
                <a:cs typeface="Lora Bold"/>
                <a:sym typeface="Lora Bold"/>
              </a:rPr>
              <a:t>Separate portals for different government schemes/beneficiaries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389716" y="7292426"/>
            <a:ext cx="7655566" cy="413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b="1">
                <a:solidFill>
                  <a:srgbClr val="272525"/>
                </a:solidFill>
                <a:latin typeface="Lora Bold"/>
                <a:ea typeface="Lora Bold"/>
                <a:cs typeface="Lora Bold"/>
                <a:sym typeface="Lora Bold"/>
              </a:rPr>
              <a:t>No unified system to automatically link FRA beneficiaries.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992238" y="8078391"/>
            <a:ext cx="16303523" cy="1282751"/>
            <a:chOff x="0" y="0"/>
            <a:chExt cx="21738031" cy="171033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1738082" cy="1710436"/>
            </a:xfrm>
            <a:custGeom>
              <a:avLst/>
              <a:gdLst/>
              <a:ahLst/>
              <a:cxnLst/>
              <a:rect l="l" t="t" r="r" b="b"/>
              <a:pathLst>
                <a:path w="21738082" h="1710436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21689822" y="0"/>
                  </a:lnTo>
                  <a:cubicBezTo>
                    <a:pt x="21716492" y="0"/>
                    <a:pt x="21738082" y="21590"/>
                    <a:pt x="21738082" y="48260"/>
                  </a:cubicBezTo>
                  <a:lnTo>
                    <a:pt x="21738082" y="1662176"/>
                  </a:lnTo>
                  <a:cubicBezTo>
                    <a:pt x="21738082" y="1688846"/>
                    <a:pt x="21716492" y="1710436"/>
                    <a:pt x="21689822" y="1710436"/>
                  </a:cubicBezTo>
                  <a:lnTo>
                    <a:pt x="48260" y="1710436"/>
                  </a:lnTo>
                  <a:cubicBezTo>
                    <a:pt x="21590" y="1710436"/>
                    <a:pt x="0" y="1688846"/>
                    <a:pt x="0" y="1662176"/>
                  </a:cubicBezTo>
                  <a:close/>
                </a:path>
              </a:pathLst>
            </a:custGeom>
            <a:solidFill>
              <a:srgbClr val="C3EED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233192" y="8425758"/>
            <a:ext cx="301228" cy="240954"/>
            <a:chOff x="0" y="0"/>
            <a:chExt cx="401638" cy="321272"/>
          </a:xfrm>
        </p:grpSpPr>
        <p:sp>
          <p:nvSpPr>
            <p:cNvPr id="54" name="Freeform 54" descr="preencoded.png"/>
            <p:cNvSpPr/>
            <p:nvPr/>
          </p:nvSpPr>
          <p:spPr>
            <a:xfrm>
              <a:off x="0" y="0"/>
              <a:ext cx="401574" cy="321310"/>
            </a:xfrm>
            <a:custGeom>
              <a:avLst/>
              <a:gdLst/>
              <a:ahLst/>
              <a:cxnLst/>
              <a:rect l="l" t="t" r="r" b="b"/>
              <a:pathLst>
                <a:path w="401574" h="321310">
                  <a:moveTo>
                    <a:pt x="0" y="0"/>
                  </a:moveTo>
                  <a:lnTo>
                    <a:pt x="401574" y="0"/>
                  </a:lnTo>
                  <a:lnTo>
                    <a:pt x="401574" y="321310"/>
                  </a:lnTo>
                  <a:lnTo>
                    <a:pt x="0" y="321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92" r="-1211" b="1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775374" y="8286150"/>
            <a:ext cx="15279443" cy="770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800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While these solutions address parts of the problem, they lack integration (records, spatial data, and scheme linkage) limits transparency and efficient targeting.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053703"/>
            <a:ext cx="5670652" cy="746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400">
                <a:solidFill>
                  <a:srgbClr val="233E32"/>
                </a:solidFill>
                <a:latin typeface="Alice Bold"/>
                <a:ea typeface="Alice Bold"/>
                <a:cs typeface="Alice Bold"/>
                <a:sym typeface="Alice Bold"/>
              </a:rPr>
              <a:t>Project Objectives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2163366"/>
            <a:ext cx="3939778" cy="4418705"/>
            <a:chOff x="0" y="0"/>
            <a:chExt cx="5253038" cy="58916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252974" cy="5891530"/>
            </a:xfrm>
            <a:custGeom>
              <a:avLst/>
              <a:gdLst/>
              <a:ahLst/>
              <a:cxnLst/>
              <a:rect l="l" t="t" r="r" b="b"/>
              <a:pathLst>
                <a:path w="5252974" h="589153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5207635" y="0"/>
                  </a:lnTo>
                  <a:cubicBezTo>
                    <a:pt x="5232654" y="0"/>
                    <a:pt x="5252974" y="20320"/>
                    <a:pt x="5252974" y="45339"/>
                  </a:cubicBezTo>
                  <a:lnTo>
                    <a:pt x="5252974" y="5846191"/>
                  </a:lnTo>
                  <a:cubicBezTo>
                    <a:pt x="5252974" y="5871210"/>
                    <a:pt x="5232654" y="5891530"/>
                    <a:pt x="5207635" y="5891530"/>
                  </a:cubicBezTo>
                  <a:lnTo>
                    <a:pt x="45339" y="5891530"/>
                  </a:lnTo>
                  <a:cubicBezTo>
                    <a:pt x="20320" y="5891530"/>
                    <a:pt x="0" y="5871210"/>
                    <a:pt x="0" y="5846191"/>
                  </a:cubicBezTo>
                  <a:close/>
                </a:path>
              </a:pathLst>
            </a:custGeom>
            <a:solidFill>
              <a:srgbClr val="F0EDE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19048" y="2390184"/>
            <a:ext cx="680437" cy="680437"/>
            <a:chOff x="0" y="0"/>
            <a:chExt cx="907250" cy="907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07288" cy="907288"/>
            </a:xfrm>
            <a:custGeom>
              <a:avLst/>
              <a:gdLst/>
              <a:ahLst/>
              <a:cxnLst/>
              <a:rect l="l" t="t" r="r" b="b"/>
              <a:pathLst>
                <a:path w="907288" h="907288">
                  <a:moveTo>
                    <a:pt x="0" y="453644"/>
                  </a:moveTo>
                  <a:cubicBezTo>
                    <a:pt x="0" y="203073"/>
                    <a:pt x="203073" y="0"/>
                    <a:pt x="453644" y="0"/>
                  </a:cubicBezTo>
                  <a:cubicBezTo>
                    <a:pt x="704215" y="0"/>
                    <a:pt x="907288" y="203073"/>
                    <a:pt x="907288" y="453644"/>
                  </a:cubicBezTo>
                  <a:cubicBezTo>
                    <a:pt x="907288" y="704215"/>
                    <a:pt x="704215" y="907288"/>
                    <a:pt x="453644" y="907288"/>
                  </a:cubicBezTo>
                  <a:cubicBezTo>
                    <a:pt x="203073" y="907288"/>
                    <a:pt x="0" y="704215"/>
                    <a:pt x="0" y="453644"/>
                  </a:cubicBezTo>
                  <a:close/>
                </a:path>
              </a:pathLst>
            </a:custGeom>
            <a:solidFill>
              <a:srgbClr val="1B5F3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 descr="preencoded.png"/>
          <p:cNvSpPr/>
          <p:nvPr/>
        </p:nvSpPr>
        <p:spPr>
          <a:xfrm>
            <a:off x="1406128" y="2577255"/>
            <a:ext cx="306143" cy="306143"/>
          </a:xfrm>
          <a:custGeom>
            <a:avLst/>
            <a:gdLst/>
            <a:ahLst/>
            <a:cxnLst/>
            <a:rect l="l" t="t" r="r" b="b"/>
            <a:pathLst>
              <a:path w="306143" h="306143">
                <a:moveTo>
                  <a:pt x="0" y="0"/>
                </a:moveTo>
                <a:lnTo>
                  <a:pt x="306143" y="0"/>
                </a:lnTo>
                <a:lnTo>
                  <a:pt x="306143" y="306143"/>
                </a:lnTo>
                <a:lnTo>
                  <a:pt x="0" y="3061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219048" y="3232995"/>
            <a:ext cx="3486150" cy="72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00">
                <a:solidFill>
                  <a:srgbClr val="2C2821"/>
                </a:solidFill>
                <a:latin typeface="Alice Bold"/>
                <a:ea typeface="Alice Bold"/>
                <a:cs typeface="Alice Bold"/>
                <a:sym typeface="Alice Bold"/>
              </a:rPr>
              <a:t>Digitization of FRA Records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9048" y="4031456"/>
            <a:ext cx="3486150" cy="1017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00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Use AI-based OCR to convert scanned FRA documents into structured digital records.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113439" y="2163366"/>
            <a:ext cx="3939778" cy="4418705"/>
            <a:chOff x="0" y="0"/>
            <a:chExt cx="5253038" cy="589160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252974" cy="5891530"/>
            </a:xfrm>
            <a:custGeom>
              <a:avLst/>
              <a:gdLst/>
              <a:ahLst/>
              <a:cxnLst/>
              <a:rect l="l" t="t" r="r" b="b"/>
              <a:pathLst>
                <a:path w="5252974" h="589153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5207635" y="0"/>
                  </a:lnTo>
                  <a:cubicBezTo>
                    <a:pt x="5232654" y="0"/>
                    <a:pt x="5252974" y="20320"/>
                    <a:pt x="5252974" y="45339"/>
                  </a:cubicBezTo>
                  <a:lnTo>
                    <a:pt x="5252974" y="5846191"/>
                  </a:lnTo>
                  <a:cubicBezTo>
                    <a:pt x="5252974" y="5871210"/>
                    <a:pt x="5232654" y="5891530"/>
                    <a:pt x="5207635" y="5891530"/>
                  </a:cubicBezTo>
                  <a:lnTo>
                    <a:pt x="45339" y="5891530"/>
                  </a:lnTo>
                  <a:cubicBezTo>
                    <a:pt x="20320" y="5891530"/>
                    <a:pt x="0" y="5871210"/>
                    <a:pt x="0" y="5846191"/>
                  </a:cubicBezTo>
                  <a:close/>
                </a:path>
              </a:pathLst>
            </a:custGeom>
            <a:solidFill>
              <a:srgbClr val="F0EDE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40248" y="2390184"/>
            <a:ext cx="680437" cy="680437"/>
            <a:chOff x="0" y="0"/>
            <a:chExt cx="907250" cy="907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07288" cy="907288"/>
            </a:xfrm>
            <a:custGeom>
              <a:avLst/>
              <a:gdLst/>
              <a:ahLst/>
              <a:cxnLst/>
              <a:rect l="l" t="t" r="r" b="b"/>
              <a:pathLst>
                <a:path w="907288" h="907288">
                  <a:moveTo>
                    <a:pt x="0" y="453644"/>
                  </a:moveTo>
                  <a:cubicBezTo>
                    <a:pt x="0" y="203073"/>
                    <a:pt x="203073" y="0"/>
                    <a:pt x="453644" y="0"/>
                  </a:cubicBezTo>
                  <a:cubicBezTo>
                    <a:pt x="704215" y="0"/>
                    <a:pt x="907288" y="203073"/>
                    <a:pt x="907288" y="453644"/>
                  </a:cubicBezTo>
                  <a:cubicBezTo>
                    <a:pt x="907288" y="704215"/>
                    <a:pt x="704215" y="907288"/>
                    <a:pt x="453644" y="907288"/>
                  </a:cubicBezTo>
                  <a:cubicBezTo>
                    <a:pt x="203073" y="907288"/>
                    <a:pt x="0" y="704215"/>
                    <a:pt x="0" y="453644"/>
                  </a:cubicBezTo>
                  <a:close/>
                </a:path>
              </a:pathLst>
            </a:custGeom>
            <a:solidFill>
              <a:srgbClr val="1B5F3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 descr="preencoded.png"/>
          <p:cNvSpPr/>
          <p:nvPr/>
        </p:nvSpPr>
        <p:spPr>
          <a:xfrm>
            <a:off x="5527329" y="2577255"/>
            <a:ext cx="306143" cy="306143"/>
          </a:xfrm>
          <a:custGeom>
            <a:avLst/>
            <a:gdLst/>
            <a:ahLst/>
            <a:cxnLst/>
            <a:rect l="l" t="t" r="r" b="b"/>
            <a:pathLst>
              <a:path w="306143" h="306143">
                <a:moveTo>
                  <a:pt x="0" y="0"/>
                </a:moveTo>
                <a:lnTo>
                  <a:pt x="306143" y="0"/>
                </a:lnTo>
                <a:lnTo>
                  <a:pt x="306143" y="306143"/>
                </a:lnTo>
                <a:lnTo>
                  <a:pt x="0" y="3061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5340248" y="3232995"/>
            <a:ext cx="3486150" cy="72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00">
                <a:solidFill>
                  <a:srgbClr val="2C2821"/>
                </a:solidFill>
                <a:latin typeface="Alice Bold"/>
                <a:ea typeface="Alice Bold"/>
                <a:cs typeface="Alice Bold"/>
                <a:sym typeface="Alice Bold"/>
              </a:rPr>
              <a:t>Development of WebGIS-Based FRA Atlas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40248" y="4031456"/>
            <a:ext cx="3486150" cy="2323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00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Create an interactive web-based mapping platform for structured geographic representation. Visualize FRA claims, approvals, and community forest resources on interactive map interface.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234640" y="2163366"/>
            <a:ext cx="3939778" cy="4418705"/>
            <a:chOff x="0" y="0"/>
            <a:chExt cx="5253038" cy="589160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252974" cy="5891530"/>
            </a:xfrm>
            <a:custGeom>
              <a:avLst/>
              <a:gdLst/>
              <a:ahLst/>
              <a:cxnLst/>
              <a:rect l="l" t="t" r="r" b="b"/>
              <a:pathLst>
                <a:path w="5252974" h="589153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5207635" y="0"/>
                  </a:lnTo>
                  <a:cubicBezTo>
                    <a:pt x="5232654" y="0"/>
                    <a:pt x="5252974" y="20320"/>
                    <a:pt x="5252974" y="45339"/>
                  </a:cubicBezTo>
                  <a:lnTo>
                    <a:pt x="5252974" y="5846191"/>
                  </a:lnTo>
                  <a:cubicBezTo>
                    <a:pt x="5252974" y="5871210"/>
                    <a:pt x="5232654" y="5891530"/>
                    <a:pt x="5207635" y="5891530"/>
                  </a:cubicBezTo>
                  <a:lnTo>
                    <a:pt x="45339" y="5891530"/>
                  </a:lnTo>
                  <a:cubicBezTo>
                    <a:pt x="20320" y="5891530"/>
                    <a:pt x="0" y="5871210"/>
                    <a:pt x="0" y="5846191"/>
                  </a:cubicBezTo>
                  <a:close/>
                </a:path>
              </a:pathLst>
            </a:custGeom>
            <a:solidFill>
              <a:srgbClr val="F0EDE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461449" y="2390184"/>
            <a:ext cx="680437" cy="680437"/>
            <a:chOff x="0" y="0"/>
            <a:chExt cx="907250" cy="9072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07288" cy="907288"/>
            </a:xfrm>
            <a:custGeom>
              <a:avLst/>
              <a:gdLst/>
              <a:ahLst/>
              <a:cxnLst/>
              <a:rect l="l" t="t" r="r" b="b"/>
              <a:pathLst>
                <a:path w="907288" h="907288">
                  <a:moveTo>
                    <a:pt x="0" y="453644"/>
                  </a:moveTo>
                  <a:cubicBezTo>
                    <a:pt x="0" y="203073"/>
                    <a:pt x="203073" y="0"/>
                    <a:pt x="453644" y="0"/>
                  </a:cubicBezTo>
                  <a:cubicBezTo>
                    <a:pt x="704215" y="0"/>
                    <a:pt x="907288" y="203073"/>
                    <a:pt x="907288" y="453644"/>
                  </a:cubicBezTo>
                  <a:cubicBezTo>
                    <a:pt x="907288" y="704215"/>
                    <a:pt x="704215" y="907288"/>
                    <a:pt x="453644" y="907288"/>
                  </a:cubicBezTo>
                  <a:cubicBezTo>
                    <a:pt x="203073" y="907288"/>
                    <a:pt x="0" y="704215"/>
                    <a:pt x="0" y="453644"/>
                  </a:cubicBezTo>
                  <a:close/>
                </a:path>
              </a:pathLst>
            </a:custGeom>
            <a:solidFill>
              <a:srgbClr val="1B5F3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Freeform 25" descr="preencoded.png"/>
          <p:cNvSpPr/>
          <p:nvPr/>
        </p:nvSpPr>
        <p:spPr>
          <a:xfrm>
            <a:off x="9648530" y="2577255"/>
            <a:ext cx="306143" cy="306143"/>
          </a:xfrm>
          <a:custGeom>
            <a:avLst/>
            <a:gdLst/>
            <a:ahLst/>
            <a:cxnLst/>
            <a:rect l="l" t="t" r="r" b="b"/>
            <a:pathLst>
              <a:path w="306143" h="306143">
                <a:moveTo>
                  <a:pt x="0" y="0"/>
                </a:moveTo>
                <a:lnTo>
                  <a:pt x="306143" y="0"/>
                </a:lnTo>
                <a:lnTo>
                  <a:pt x="306143" y="306143"/>
                </a:lnTo>
                <a:lnTo>
                  <a:pt x="0" y="3061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9461449" y="3232995"/>
            <a:ext cx="3486150" cy="72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00">
                <a:solidFill>
                  <a:srgbClr val="2C2821"/>
                </a:solidFill>
                <a:latin typeface="Alice Bold"/>
                <a:ea typeface="Alice Bold"/>
                <a:cs typeface="Alice Bold"/>
                <a:sym typeface="Alice Bold"/>
              </a:rPr>
              <a:t>AI-based Asset Classification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61449" y="4031456"/>
            <a:ext cx="3486150" cy="1670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00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Use remote sensing and pre-trained CNN model to classify land-use categories such as forest, agriculture, water bodies, and settlements.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3355841" y="2163366"/>
            <a:ext cx="3939931" cy="4418705"/>
            <a:chOff x="0" y="0"/>
            <a:chExt cx="5253241" cy="589160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253228" cy="5891530"/>
            </a:xfrm>
            <a:custGeom>
              <a:avLst/>
              <a:gdLst/>
              <a:ahLst/>
              <a:cxnLst/>
              <a:rect l="l" t="t" r="r" b="b"/>
              <a:pathLst>
                <a:path w="5253228" h="589153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5207889" y="0"/>
                  </a:lnTo>
                  <a:cubicBezTo>
                    <a:pt x="5232908" y="0"/>
                    <a:pt x="5253228" y="20320"/>
                    <a:pt x="5253228" y="45339"/>
                  </a:cubicBezTo>
                  <a:lnTo>
                    <a:pt x="5253228" y="5846191"/>
                  </a:lnTo>
                  <a:cubicBezTo>
                    <a:pt x="5253228" y="5871210"/>
                    <a:pt x="5232908" y="5891530"/>
                    <a:pt x="5207889" y="5891530"/>
                  </a:cubicBezTo>
                  <a:lnTo>
                    <a:pt x="45339" y="5891530"/>
                  </a:lnTo>
                  <a:cubicBezTo>
                    <a:pt x="20320" y="5891530"/>
                    <a:pt x="0" y="5871210"/>
                    <a:pt x="0" y="5846191"/>
                  </a:cubicBezTo>
                  <a:close/>
                </a:path>
              </a:pathLst>
            </a:custGeom>
            <a:solidFill>
              <a:srgbClr val="F0EDE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582650" y="2390184"/>
            <a:ext cx="680437" cy="680437"/>
            <a:chOff x="0" y="0"/>
            <a:chExt cx="907250" cy="90725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07288" cy="907288"/>
            </a:xfrm>
            <a:custGeom>
              <a:avLst/>
              <a:gdLst/>
              <a:ahLst/>
              <a:cxnLst/>
              <a:rect l="l" t="t" r="r" b="b"/>
              <a:pathLst>
                <a:path w="907288" h="907288">
                  <a:moveTo>
                    <a:pt x="0" y="453644"/>
                  </a:moveTo>
                  <a:cubicBezTo>
                    <a:pt x="0" y="203073"/>
                    <a:pt x="203073" y="0"/>
                    <a:pt x="453644" y="0"/>
                  </a:cubicBezTo>
                  <a:cubicBezTo>
                    <a:pt x="704215" y="0"/>
                    <a:pt x="907288" y="203073"/>
                    <a:pt x="907288" y="453644"/>
                  </a:cubicBezTo>
                  <a:cubicBezTo>
                    <a:pt x="907288" y="704215"/>
                    <a:pt x="704215" y="907288"/>
                    <a:pt x="453644" y="907288"/>
                  </a:cubicBezTo>
                  <a:cubicBezTo>
                    <a:pt x="203073" y="907288"/>
                    <a:pt x="0" y="704215"/>
                    <a:pt x="0" y="453644"/>
                  </a:cubicBezTo>
                  <a:close/>
                </a:path>
              </a:pathLst>
            </a:custGeom>
            <a:solidFill>
              <a:srgbClr val="1B5F3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Freeform 32" descr="preencoded.png"/>
          <p:cNvSpPr/>
          <p:nvPr/>
        </p:nvSpPr>
        <p:spPr>
          <a:xfrm>
            <a:off x="13769731" y="2577255"/>
            <a:ext cx="306143" cy="306143"/>
          </a:xfrm>
          <a:custGeom>
            <a:avLst/>
            <a:gdLst/>
            <a:ahLst/>
            <a:cxnLst/>
            <a:rect l="l" t="t" r="r" b="b"/>
            <a:pathLst>
              <a:path w="306143" h="306143">
                <a:moveTo>
                  <a:pt x="0" y="0"/>
                </a:moveTo>
                <a:lnTo>
                  <a:pt x="306143" y="0"/>
                </a:lnTo>
                <a:lnTo>
                  <a:pt x="306143" y="306143"/>
                </a:lnTo>
                <a:lnTo>
                  <a:pt x="0" y="3061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13582650" y="3232995"/>
            <a:ext cx="3289402" cy="37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00">
                <a:solidFill>
                  <a:srgbClr val="2C2821"/>
                </a:solidFill>
                <a:latin typeface="Alice Bold"/>
                <a:ea typeface="Alice Bold"/>
                <a:cs typeface="Alice Bold"/>
                <a:sym typeface="Alice Bold"/>
              </a:rPr>
              <a:t>Interactive WebGIS Portal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582650" y="3677098"/>
            <a:ext cx="3486302" cy="1017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00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Provide real-time monitoring of FRA claim status and implementation progress.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92238" y="6763493"/>
            <a:ext cx="8060979" cy="2431704"/>
            <a:chOff x="0" y="0"/>
            <a:chExt cx="10747972" cy="324227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748010" cy="3242310"/>
            </a:xfrm>
            <a:custGeom>
              <a:avLst/>
              <a:gdLst/>
              <a:ahLst/>
              <a:cxnLst/>
              <a:rect l="l" t="t" r="r" b="b"/>
              <a:pathLst>
                <a:path w="10748010" h="324231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10702671" y="0"/>
                  </a:lnTo>
                  <a:cubicBezTo>
                    <a:pt x="10727689" y="0"/>
                    <a:pt x="10748010" y="20320"/>
                    <a:pt x="10748010" y="45339"/>
                  </a:cubicBezTo>
                  <a:lnTo>
                    <a:pt x="10748010" y="3196971"/>
                  </a:lnTo>
                  <a:cubicBezTo>
                    <a:pt x="10748010" y="3221990"/>
                    <a:pt x="10727689" y="3242310"/>
                    <a:pt x="10702671" y="3242310"/>
                  </a:cubicBezTo>
                  <a:lnTo>
                    <a:pt x="45339" y="3242310"/>
                  </a:lnTo>
                  <a:cubicBezTo>
                    <a:pt x="20320" y="3242310"/>
                    <a:pt x="0" y="3221990"/>
                    <a:pt x="0" y="3196971"/>
                  </a:cubicBezTo>
                  <a:close/>
                </a:path>
              </a:pathLst>
            </a:custGeom>
            <a:solidFill>
              <a:srgbClr val="F0EDE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19048" y="6990312"/>
            <a:ext cx="680437" cy="680437"/>
            <a:chOff x="0" y="0"/>
            <a:chExt cx="907250" cy="90725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07288" cy="907288"/>
            </a:xfrm>
            <a:custGeom>
              <a:avLst/>
              <a:gdLst/>
              <a:ahLst/>
              <a:cxnLst/>
              <a:rect l="l" t="t" r="r" b="b"/>
              <a:pathLst>
                <a:path w="907288" h="907288">
                  <a:moveTo>
                    <a:pt x="0" y="453644"/>
                  </a:moveTo>
                  <a:cubicBezTo>
                    <a:pt x="0" y="203073"/>
                    <a:pt x="203073" y="0"/>
                    <a:pt x="453644" y="0"/>
                  </a:cubicBezTo>
                  <a:cubicBezTo>
                    <a:pt x="704215" y="0"/>
                    <a:pt x="907288" y="203073"/>
                    <a:pt x="907288" y="453644"/>
                  </a:cubicBezTo>
                  <a:cubicBezTo>
                    <a:pt x="907288" y="704215"/>
                    <a:pt x="704215" y="907288"/>
                    <a:pt x="453644" y="907288"/>
                  </a:cubicBezTo>
                  <a:cubicBezTo>
                    <a:pt x="203073" y="907288"/>
                    <a:pt x="0" y="704215"/>
                    <a:pt x="0" y="453644"/>
                  </a:cubicBezTo>
                  <a:close/>
                </a:path>
              </a:pathLst>
            </a:custGeom>
            <a:solidFill>
              <a:srgbClr val="1B5F3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Freeform 39" descr="preencoded.png"/>
          <p:cNvSpPr/>
          <p:nvPr/>
        </p:nvSpPr>
        <p:spPr>
          <a:xfrm>
            <a:off x="1406128" y="7177383"/>
            <a:ext cx="306143" cy="306143"/>
          </a:xfrm>
          <a:custGeom>
            <a:avLst/>
            <a:gdLst/>
            <a:ahLst/>
            <a:cxnLst/>
            <a:rect l="l" t="t" r="r" b="b"/>
            <a:pathLst>
              <a:path w="306143" h="306143">
                <a:moveTo>
                  <a:pt x="0" y="0"/>
                </a:moveTo>
                <a:lnTo>
                  <a:pt x="306143" y="0"/>
                </a:lnTo>
                <a:lnTo>
                  <a:pt x="306143" y="306143"/>
                </a:lnTo>
                <a:lnTo>
                  <a:pt x="0" y="3061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1219048" y="7833122"/>
            <a:ext cx="3919090" cy="37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00">
                <a:solidFill>
                  <a:srgbClr val="2C2821"/>
                </a:solidFill>
                <a:latin typeface="Alice Bold"/>
                <a:ea typeface="Alice Bold"/>
                <a:cs typeface="Alice Bold"/>
                <a:sym typeface="Alice Bold"/>
              </a:rPr>
              <a:t>Decision Support System (DSS)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19048" y="8277225"/>
            <a:ext cx="7607351" cy="691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00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A smart engine for targeted FRA beneficiaries with eligible schemes. Suggest PM-KISAN, MGNREGA, and other relevant schemes.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9234640" y="6763493"/>
            <a:ext cx="8061122" cy="2431704"/>
            <a:chOff x="0" y="0"/>
            <a:chExt cx="10748162" cy="324227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748137" cy="3242310"/>
            </a:xfrm>
            <a:custGeom>
              <a:avLst/>
              <a:gdLst/>
              <a:ahLst/>
              <a:cxnLst/>
              <a:rect l="l" t="t" r="r" b="b"/>
              <a:pathLst>
                <a:path w="10748137" h="324231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10702798" y="0"/>
                  </a:lnTo>
                  <a:cubicBezTo>
                    <a:pt x="10727817" y="0"/>
                    <a:pt x="10748137" y="20320"/>
                    <a:pt x="10748137" y="45339"/>
                  </a:cubicBezTo>
                  <a:lnTo>
                    <a:pt x="10748137" y="3196971"/>
                  </a:lnTo>
                  <a:cubicBezTo>
                    <a:pt x="10748137" y="3221990"/>
                    <a:pt x="10727817" y="3242310"/>
                    <a:pt x="10702798" y="3242310"/>
                  </a:cubicBezTo>
                  <a:lnTo>
                    <a:pt x="45339" y="3242310"/>
                  </a:lnTo>
                  <a:cubicBezTo>
                    <a:pt x="20320" y="3242310"/>
                    <a:pt x="0" y="3221990"/>
                    <a:pt x="0" y="3196971"/>
                  </a:cubicBezTo>
                  <a:close/>
                </a:path>
              </a:pathLst>
            </a:custGeom>
            <a:solidFill>
              <a:srgbClr val="F0EDE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461449" y="6990312"/>
            <a:ext cx="680437" cy="680437"/>
            <a:chOff x="0" y="0"/>
            <a:chExt cx="907250" cy="90725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07288" cy="907288"/>
            </a:xfrm>
            <a:custGeom>
              <a:avLst/>
              <a:gdLst/>
              <a:ahLst/>
              <a:cxnLst/>
              <a:rect l="l" t="t" r="r" b="b"/>
              <a:pathLst>
                <a:path w="907288" h="907288">
                  <a:moveTo>
                    <a:pt x="0" y="453644"/>
                  </a:moveTo>
                  <a:cubicBezTo>
                    <a:pt x="0" y="203073"/>
                    <a:pt x="203073" y="0"/>
                    <a:pt x="453644" y="0"/>
                  </a:cubicBezTo>
                  <a:cubicBezTo>
                    <a:pt x="704215" y="0"/>
                    <a:pt x="907288" y="203073"/>
                    <a:pt x="907288" y="453644"/>
                  </a:cubicBezTo>
                  <a:cubicBezTo>
                    <a:pt x="907288" y="704215"/>
                    <a:pt x="704215" y="907288"/>
                    <a:pt x="453644" y="907288"/>
                  </a:cubicBezTo>
                  <a:cubicBezTo>
                    <a:pt x="203073" y="907288"/>
                    <a:pt x="0" y="704215"/>
                    <a:pt x="0" y="453644"/>
                  </a:cubicBezTo>
                  <a:close/>
                </a:path>
              </a:pathLst>
            </a:custGeom>
            <a:solidFill>
              <a:srgbClr val="1B5F3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" name="Freeform 46" descr="preencoded.png"/>
          <p:cNvSpPr/>
          <p:nvPr/>
        </p:nvSpPr>
        <p:spPr>
          <a:xfrm>
            <a:off x="9648530" y="7177383"/>
            <a:ext cx="306143" cy="306143"/>
          </a:xfrm>
          <a:custGeom>
            <a:avLst/>
            <a:gdLst/>
            <a:ahLst/>
            <a:cxnLst/>
            <a:rect l="l" t="t" r="r" b="b"/>
            <a:pathLst>
              <a:path w="306143" h="306143">
                <a:moveTo>
                  <a:pt x="0" y="0"/>
                </a:moveTo>
                <a:lnTo>
                  <a:pt x="306143" y="0"/>
                </a:lnTo>
                <a:lnTo>
                  <a:pt x="306143" y="306143"/>
                </a:lnTo>
                <a:lnTo>
                  <a:pt x="0" y="3061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4545" b="-454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47"/>
          <p:cNvSpPr txBox="1"/>
          <p:nvPr/>
        </p:nvSpPr>
        <p:spPr>
          <a:xfrm>
            <a:off x="9461449" y="7833122"/>
            <a:ext cx="5611120" cy="37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00">
                <a:solidFill>
                  <a:srgbClr val="2C2821"/>
                </a:solidFill>
                <a:latin typeface="Alice Bold"/>
                <a:ea typeface="Alice Bold"/>
                <a:cs typeface="Alice Bold"/>
                <a:sym typeface="Alice Bold"/>
              </a:rPr>
              <a:t>Secure Role-Based &amp; Blockchain Framework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461449" y="8277225"/>
            <a:ext cx="7607494" cy="691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00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Ensure immutability of approved records using a blockchain mechanism to prevent tampering.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024233"/>
            <a:ext cx="6733880" cy="870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299">
                <a:solidFill>
                  <a:srgbClr val="233E32"/>
                </a:solidFill>
                <a:latin typeface="Alice Bold"/>
                <a:ea typeface="Alice Bold"/>
                <a:cs typeface="Alice Bold"/>
                <a:sym typeface="Alice Bold"/>
              </a:rPr>
              <a:t>Tech Stack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7476" y="2401491"/>
            <a:ext cx="16313048" cy="6837464"/>
            <a:chOff x="0" y="0"/>
            <a:chExt cx="21750731" cy="91166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50782" cy="9116568"/>
            </a:xfrm>
            <a:custGeom>
              <a:avLst/>
              <a:gdLst/>
              <a:ahLst/>
              <a:cxnLst/>
              <a:rect l="l" t="t" r="r" b="b"/>
              <a:pathLst>
                <a:path w="21750782" h="9116568">
                  <a:moveTo>
                    <a:pt x="0" y="60198"/>
                  </a:moveTo>
                  <a:cubicBezTo>
                    <a:pt x="0" y="26924"/>
                    <a:pt x="27051" y="0"/>
                    <a:pt x="60325" y="0"/>
                  </a:cubicBezTo>
                  <a:lnTo>
                    <a:pt x="21690457" y="0"/>
                  </a:lnTo>
                  <a:lnTo>
                    <a:pt x="21690457" y="6350"/>
                  </a:lnTo>
                  <a:lnTo>
                    <a:pt x="21690457" y="0"/>
                  </a:lnTo>
                  <a:cubicBezTo>
                    <a:pt x="21723731" y="0"/>
                    <a:pt x="21750782" y="26924"/>
                    <a:pt x="21750782" y="60198"/>
                  </a:cubicBezTo>
                  <a:lnTo>
                    <a:pt x="21744432" y="60198"/>
                  </a:lnTo>
                  <a:lnTo>
                    <a:pt x="21750782" y="60198"/>
                  </a:lnTo>
                  <a:lnTo>
                    <a:pt x="21750782" y="9056370"/>
                  </a:lnTo>
                  <a:lnTo>
                    <a:pt x="21744432" y="9056370"/>
                  </a:lnTo>
                  <a:lnTo>
                    <a:pt x="21750782" y="9056370"/>
                  </a:lnTo>
                  <a:cubicBezTo>
                    <a:pt x="21750782" y="9089644"/>
                    <a:pt x="21723731" y="9116568"/>
                    <a:pt x="21690457" y="9116568"/>
                  </a:cubicBezTo>
                  <a:lnTo>
                    <a:pt x="21690457" y="9110218"/>
                  </a:lnTo>
                  <a:lnTo>
                    <a:pt x="21690457" y="9116568"/>
                  </a:lnTo>
                  <a:lnTo>
                    <a:pt x="60325" y="9116568"/>
                  </a:lnTo>
                  <a:lnTo>
                    <a:pt x="60325" y="9110218"/>
                  </a:lnTo>
                  <a:lnTo>
                    <a:pt x="60325" y="9116568"/>
                  </a:lnTo>
                  <a:cubicBezTo>
                    <a:pt x="27051" y="9116568"/>
                    <a:pt x="0" y="9089644"/>
                    <a:pt x="0" y="9056370"/>
                  </a:cubicBezTo>
                  <a:lnTo>
                    <a:pt x="0" y="60198"/>
                  </a:lnTo>
                  <a:lnTo>
                    <a:pt x="6350" y="60198"/>
                  </a:lnTo>
                  <a:lnTo>
                    <a:pt x="0" y="60198"/>
                  </a:lnTo>
                  <a:moveTo>
                    <a:pt x="12700" y="60198"/>
                  </a:moveTo>
                  <a:lnTo>
                    <a:pt x="12700" y="9056370"/>
                  </a:lnTo>
                  <a:lnTo>
                    <a:pt x="6350" y="9056370"/>
                  </a:lnTo>
                  <a:lnTo>
                    <a:pt x="12700" y="9056370"/>
                  </a:lnTo>
                  <a:cubicBezTo>
                    <a:pt x="12700" y="9082659"/>
                    <a:pt x="34036" y="9103868"/>
                    <a:pt x="60325" y="9103868"/>
                  </a:cubicBezTo>
                  <a:lnTo>
                    <a:pt x="21690457" y="9103868"/>
                  </a:lnTo>
                  <a:cubicBezTo>
                    <a:pt x="21716746" y="9103868"/>
                    <a:pt x="21738082" y="9082532"/>
                    <a:pt x="21738082" y="9056370"/>
                  </a:cubicBezTo>
                  <a:lnTo>
                    <a:pt x="21738082" y="60198"/>
                  </a:lnTo>
                  <a:cubicBezTo>
                    <a:pt x="21738082" y="33909"/>
                    <a:pt x="21716746" y="12700"/>
                    <a:pt x="21690457" y="12700"/>
                  </a:cubicBezTo>
                  <a:lnTo>
                    <a:pt x="60325" y="12700"/>
                  </a:lnTo>
                  <a:lnTo>
                    <a:pt x="60325" y="6350"/>
                  </a:lnTo>
                  <a:lnTo>
                    <a:pt x="60325" y="12700"/>
                  </a:lnTo>
                  <a:cubicBezTo>
                    <a:pt x="34036" y="12700"/>
                    <a:pt x="12700" y="34036"/>
                    <a:pt x="12700" y="60198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1763" y="2415778"/>
            <a:ext cx="16284473" cy="746074"/>
            <a:chOff x="0" y="0"/>
            <a:chExt cx="21712631" cy="99476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12682" cy="994791"/>
            </a:xfrm>
            <a:custGeom>
              <a:avLst/>
              <a:gdLst/>
              <a:ahLst/>
              <a:cxnLst/>
              <a:rect l="l" t="t" r="r" b="b"/>
              <a:pathLst>
                <a:path w="21712682" h="994791">
                  <a:moveTo>
                    <a:pt x="0" y="0"/>
                  </a:moveTo>
                  <a:lnTo>
                    <a:pt x="21712682" y="0"/>
                  </a:lnTo>
                  <a:lnTo>
                    <a:pt x="21712682" y="994791"/>
                  </a:lnTo>
                  <a:lnTo>
                    <a:pt x="0" y="99479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01906" y="2415778"/>
            <a:ext cx="3908222" cy="746074"/>
            <a:chOff x="0" y="0"/>
            <a:chExt cx="5210962" cy="99476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210937" cy="994791"/>
            </a:xfrm>
            <a:custGeom>
              <a:avLst/>
              <a:gdLst/>
              <a:ahLst/>
              <a:cxnLst/>
              <a:rect l="l" t="t" r="r" b="b"/>
              <a:pathLst>
                <a:path w="5210937" h="994791">
                  <a:moveTo>
                    <a:pt x="0" y="53848"/>
                  </a:moveTo>
                  <a:cubicBezTo>
                    <a:pt x="0" y="24130"/>
                    <a:pt x="24130" y="0"/>
                    <a:pt x="53848" y="0"/>
                  </a:cubicBezTo>
                  <a:lnTo>
                    <a:pt x="5157089" y="0"/>
                  </a:lnTo>
                  <a:cubicBezTo>
                    <a:pt x="5186807" y="0"/>
                    <a:pt x="5210937" y="24130"/>
                    <a:pt x="5210937" y="53848"/>
                  </a:cubicBezTo>
                  <a:lnTo>
                    <a:pt x="5210937" y="940943"/>
                  </a:lnTo>
                  <a:cubicBezTo>
                    <a:pt x="5210937" y="970661"/>
                    <a:pt x="5186807" y="994791"/>
                    <a:pt x="5157089" y="994791"/>
                  </a:cubicBezTo>
                  <a:lnTo>
                    <a:pt x="53848" y="994791"/>
                  </a:lnTo>
                  <a:cubicBezTo>
                    <a:pt x="24130" y="994791"/>
                    <a:pt x="0" y="970661"/>
                    <a:pt x="0" y="940943"/>
                  </a:cubicBezTo>
                  <a:close/>
                </a:path>
              </a:pathLst>
            </a:custGeom>
            <a:solidFill>
              <a:srgbClr val="1B5E2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71140" y="2502541"/>
            <a:ext cx="3365002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00" b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Layer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910138" y="2415778"/>
            <a:ext cx="12376099" cy="746074"/>
            <a:chOff x="0" y="0"/>
            <a:chExt cx="16501466" cy="99476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501490" cy="994791"/>
            </a:xfrm>
            <a:custGeom>
              <a:avLst/>
              <a:gdLst/>
              <a:ahLst/>
              <a:cxnLst/>
              <a:rect l="l" t="t" r="r" b="b"/>
              <a:pathLst>
                <a:path w="16501490" h="994791">
                  <a:moveTo>
                    <a:pt x="0" y="0"/>
                  </a:moveTo>
                  <a:lnTo>
                    <a:pt x="16501490" y="0"/>
                  </a:lnTo>
                  <a:lnTo>
                    <a:pt x="16501490" y="994791"/>
                  </a:lnTo>
                  <a:lnTo>
                    <a:pt x="0" y="994791"/>
                  </a:lnTo>
                  <a:close/>
                </a:path>
              </a:pathLst>
            </a:custGeom>
            <a:solidFill>
              <a:srgbClr val="1B5E2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184134" y="2502541"/>
            <a:ext cx="11832879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00" b="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Technology Used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01763" y="3161852"/>
            <a:ext cx="16284473" cy="746074"/>
            <a:chOff x="0" y="0"/>
            <a:chExt cx="21712631" cy="99476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712682" cy="994791"/>
            </a:xfrm>
            <a:custGeom>
              <a:avLst/>
              <a:gdLst/>
              <a:ahLst/>
              <a:cxnLst/>
              <a:rect l="l" t="t" r="r" b="b"/>
              <a:pathLst>
                <a:path w="21712682" h="994791">
                  <a:moveTo>
                    <a:pt x="0" y="0"/>
                  </a:moveTo>
                  <a:lnTo>
                    <a:pt x="21712682" y="0"/>
                  </a:lnTo>
                  <a:lnTo>
                    <a:pt x="21712682" y="994791"/>
                  </a:lnTo>
                  <a:lnTo>
                    <a:pt x="0" y="9947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01906" y="3161852"/>
            <a:ext cx="3908222" cy="746074"/>
            <a:chOff x="0" y="0"/>
            <a:chExt cx="5210962" cy="99476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210937" cy="994791"/>
            </a:xfrm>
            <a:custGeom>
              <a:avLst/>
              <a:gdLst/>
              <a:ahLst/>
              <a:cxnLst/>
              <a:rect l="l" t="t" r="r" b="b"/>
              <a:pathLst>
                <a:path w="5210937" h="994791">
                  <a:moveTo>
                    <a:pt x="0" y="0"/>
                  </a:moveTo>
                  <a:lnTo>
                    <a:pt x="5210937" y="0"/>
                  </a:lnTo>
                  <a:lnTo>
                    <a:pt x="5210937" y="994791"/>
                  </a:lnTo>
                  <a:lnTo>
                    <a:pt x="0" y="994791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71140" y="3248616"/>
            <a:ext cx="3365002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00" b="1">
                <a:solidFill>
                  <a:srgbClr val="272525"/>
                </a:solidFill>
                <a:latin typeface="Lora Bold"/>
                <a:ea typeface="Lora Bold"/>
                <a:cs typeface="Lora Bold"/>
                <a:sym typeface="Lora Bold"/>
              </a:rPr>
              <a:t>Frontend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4910138" y="3161852"/>
            <a:ext cx="12376099" cy="746074"/>
            <a:chOff x="0" y="0"/>
            <a:chExt cx="16501466" cy="99476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6501490" cy="994791"/>
            </a:xfrm>
            <a:custGeom>
              <a:avLst/>
              <a:gdLst/>
              <a:ahLst/>
              <a:cxnLst/>
              <a:rect l="l" t="t" r="r" b="b"/>
              <a:pathLst>
                <a:path w="16501490" h="994791">
                  <a:moveTo>
                    <a:pt x="0" y="0"/>
                  </a:moveTo>
                  <a:lnTo>
                    <a:pt x="16501490" y="0"/>
                  </a:lnTo>
                  <a:lnTo>
                    <a:pt x="16501490" y="994791"/>
                  </a:lnTo>
                  <a:lnTo>
                    <a:pt x="0" y="994791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184134" y="3248616"/>
            <a:ext cx="11832879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00" b="1">
                <a:solidFill>
                  <a:srgbClr val="272525"/>
                </a:solidFill>
                <a:latin typeface="Lora Bold"/>
                <a:ea typeface="Lora Bold"/>
                <a:cs typeface="Lora Bold"/>
                <a:sym typeface="Lora Bold"/>
              </a:rPr>
              <a:t>React.js, Leaflet.js, Bootstrap, TailwindCSS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01763" y="3907927"/>
            <a:ext cx="16284473" cy="746074"/>
            <a:chOff x="0" y="0"/>
            <a:chExt cx="21712631" cy="99476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712682" cy="994791"/>
            </a:xfrm>
            <a:custGeom>
              <a:avLst/>
              <a:gdLst/>
              <a:ahLst/>
              <a:cxnLst/>
              <a:rect l="l" t="t" r="r" b="b"/>
              <a:pathLst>
                <a:path w="21712682" h="994791">
                  <a:moveTo>
                    <a:pt x="0" y="0"/>
                  </a:moveTo>
                  <a:lnTo>
                    <a:pt x="21712682" y="0"/>
                  </a:lnTo>
                  <a:lnTo>
                    <a:pt x="21712682" y="994791"/>
                  </a:lnTo>
                  <a:lnTo>
                    <a:pt x="0" y="99479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71140" y="3994699"/>
            <a:ext cx="3365002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00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Backend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84134" y="3994699"/>
            <a:ext cx="11832879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00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FAST API, REST APIs, JWT Auth, MCP middleware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001763" y="4654001"/>
            <a:ext cx="16284473" cy="1166222"/>
            <a:chOff x="0" y="0"/>
            <a:chExt cx="21712631" cy="155496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712682" cy="1554988"/>
            </a:xfrm>
            <a:custGeom>
              <a:avLst/>
              <a:gdLst/>
              <a:ahLst/>
              <a:cxnLst/>
              <a:rect l="l" t="t" r="r" b="b"/>
              <a:pathLst>
                <a:path w="21712682" h="1554988">
                  <a:moveTo>
                    <a:pt x="0" y="0"/>
                  </a:moveTo>
                  <a:lnTo>
                    <a:pt x="21712682" y="0"/>
                  </a:lnTo>
                  <a:lnTo>
                    <a:pt x="21712682" y="1554988"/>
                  </a:lnTo>
                  <a:lnTo>
                    <a:pt x="0" y="15549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01906" y="4654001"/>
            <a:ext cx="3908222" cy="1166222"/>
            <a:chOff x="0" y="0"/>
            <a:chExt cx="5210962" cy="155496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210937" cy="1554988"/>
            </a:xfrm>
            <a:custGeom>
              <a:avLst/>
              <a:gdLst/>
              <a:ahLst/>
              <a:cxnLst/>
              <a:rect l="l" t="t" r="r" b="b"/>
              <a:pathLst>
                <a:path w="5210937" h="1554988">
                  <a:moveTo>
                    <a:pt x="0" y="0"/>
                  </a:moveTo>
                  <a:lnTo>
                    <a:pt x="5210937" y="0"/>
                  </a:lnTo>
                  <a:lnTo>
                    <a:pt x="5210937" y="1554988"/>
                  </a:lnTo>
                  <a:lnTo>
                    <a:pt x="0" y="1554988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271140" y="4740773"/>
            <a:ext cx="3365002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00" b="1">
                <a:solidFill>
                  <a:srgbClr val="272525"/>
                </a:solidFill>
                <a:latin typeface="Lora Bold"/>
                <a:ea typeface="Lora Bold"/>
                <a:cs typeface="Lora Bold"/>
                <a:sym typeface="Lora Bold"/>
              </a:rPr>
              <a:t>AI / ML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4910138" y="4654001"/>
            <a:ext cx="12376099" cy="1166222"/>
            <a:chOff x="0" y="0"/>
            <a:chExt cx="16501466" cy="155496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6501490" cy="1554988"/>
            </a:xfrm>
            <a:custGeom>
              <a:avLst/>
              <a:gdLst/>
              <a:ahLst/>
              <a:cxnLst/>
              <a:rect l="l" t="t" r="r" b="b"/>
              <a:pathLst>
                <a:path w="16501490" h="1554988">
                  <a:moveTo>
                    <a:pt x="0" y="0"/>
                  </a:moveTo>
                  <a:lnTo>
                    <a:pt x="16501490" y="0"/>
                  </a:lnTo>
                  <a:lnTo>
                    <a:pt x="16501490" y="1554988"/>
                  </a:lnTo>
                  <a:lnTo>
                    <a:pt x="0" y="1554988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5184134" y="4740773"/>
            <a:ext cx="11832879" cy="916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00" b="1">
                <a:solidFill>
                  <a:srgbClr val="272525"/>
                </a:solidFill>
                <a:latin typeface="Lora Bold"/>
                <a:ea typeface="Lora Bold"/>
                <a:cs typeface="Lora Bold"/>
                <a:sym typeface="Lora Bold"/>
              </a:rPr>
              <a:t>OCR (Tesseract/Google Vision), CNN (TensorFlow/Keras), LLM (LangChain + Google-Gemini)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001763" y="5820223"/>
            <a:ext cx="16284473" cy="746074"/>
            <a:chOff x="0" y="0"/>
            <a:chExt cx="21712631" cy="99476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712682" cy="994791"/>
            </a:xfrm>
            <a:custGeom>
              <a:avLst/>
              <a:gdLst/>
              <a:ahLst/>
              <a:cxnLst/>
              <a:rect l="l" t="t" r="r" b="b"/>
              <a:pathLst>
                <a:path w="21712682" h="994791">
                  <a:moveTo>
                    <a:pt x="0" y="0"/>
                  </a:moveTo>
                  <a:lnTo>
                    <a:pt x="21712682" y="0"/>
                  </a:lnTo>
                  <a:lnTo>
                    <a:pt x="21712682" y="994791"/>
                  </a:lnTo>
                  <a:lnTo>
                    <a:pt x="0" y="99479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271140" y="5906986"/>
            <a:ext cx="3365002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00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Data Cleaning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184134" y="5906986"/>
            <a:ext cx="11832879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00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Pandas, Regex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001763" y="6566297"/>
            <a:ext cx="16284473" cy="746074"/>
            <a:chOff x="0" y="0"/>
            <a:chExt cx="21712631" cy="99476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1712682" cy="994791"/>
            </a:xfrm>
            <a:custGeom>
              <a:avLst/>
              <a:gdLst/>
              <a:ahLst/>
              <a:cxnLst/>
              <a:rect l="l" t="t" r="r" b="b"/>
              <a:pathLst>
                <a:path w="21712682" h="994791">
                  <a:moveTo>
                    <a:pt x="0" y="0"/>
                  </a:moveTo>
                  <a:lnTo>
                    <a:pt x="21712682" y="0"/>
                  </a:lnTo>
                  <a:lnTo>
                    <a:pt x="21712682" y="994791"/>
                  </a:lnTo>
                  <a:lnTo>
                    <a:pt x="0" y="9947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01906" y="6566297"/>
            <a:ext cx="3908222" cy="746074"/>
            <a:chOff x="0" y="0"/>
            <a:chExt cx="5210962" cy="99476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210937" cy="994791"/>
            </a:xfrm>
            <a:custGeom>
              <a:avLst/>
              <a:gdLst/>
              <a:ahLst/>
              <a:cxnLst/>
              <a:rect l="l" t="t" r="r" b="b"/>
              <a:pathLst>
                <a:path w="5210937" h="994791">
                  <a:moveTo>
                    <a:pt x="0" y="0"/>
                  </a:moveTo>
                  <a:lnTo>
                    <a:pt x="5210937" y="0"/>
                  </a:lnTo>
                  <a:lnTo>
                    <a:pt x="5210937" y="994791"/>
                  </a:lnTo>
                  <a:lnTo>
                    <a:pt x="0" y="994791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271140" y="6653060"/>
            <a:ext cx="3365002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00" b="1">
                <a:solidFill>
                  <a:srgbClr val="272525"/>
                </a:solidFill>
                <a:latin typeface="Lora Bold"/>
                <a:ea typeface="Lora Bold"/>
                <a:cs typeface="Lora Bold"/>
                <a:sym typeface="Lora Bold"/>
              </a:rPr>
              <a:t>Geo / Spatial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4910138" y="6566297"/>
            <a:ext cx="12376099" cy="746074"/>
            <a:chOff x="0" y="0"/>
            <a:chExt cx="16501466" cy="99476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6501490" cy="994791"/>
            </a:xfrm>
            <a:custGeom>
              <a:avLst/>
              <a:gdLst/>
              <a:ahLst/>
              <a:cxnLst/>
              <a:rect l="l" t="t" r="r" b="b"/>
              <a:pathLst>
                <a:path w="16501490" h="994791">
                  <a:moveTo>
                    <a:pt x="0" y="0"/>
                  </a:moveTo>
                  <a:lnTo>
                    <a:pt x="16501490" y="0"/>
                  </a:lnTo>
                  <a:lnTo>
                    <a:pt x="16501490" y="994791"/>
                  </a:lnTo>
                  <a:lnTo>
                    <a:pt x="0" y="994791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5184134" y="6653060"/>
            <a:ext cx="11832879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00" b="1">
                <a:solidFill>
                  <a:srgbClr val="272525"/>
                </a:solidFill>
                <a:latin typeface="Lora Bold"/>
                <a:ea typeface="Lora Bold"/>
                <a:cs typeface="Lora Bold"/>
                <a:sym typeface="Lora Bold"/>
              </a:rPr>
              <a:t>Google Earth Engine (Sentinel-2), OpenStreetMap, GIS Tools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001763" y="7312371"/>
            <a:ext cx="16284473" cy="746074"/>
            <a:chOff x="0" y="0"/>
            <a:chExt cx="21712631" cy="99476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1712682" cy="994791"/>
            </a:xfrm>
            <a:custGeom>
              <a:avLst/>
              <a:gdLst/>
              <a:ahLst/>
              <a:cxnLst/>
              <a:rect l="l" t="t" r="r" b="b"/>
              <a:pathLst>
                <a:path w="21712682" h="994791">
                  <a:moveTo>
                    <a:pt x="0" y="0"/>
                  </a:moveTo>
                  <a:lnTo>
                    <a:pt x="21712682" y="0"/>
                  </a:lnTo>
                  <a:lnTo>
                    <a:pt x="21712682" y="994791"/>
                  </a:lnTo>
                  <a:lnTo>
                    <a:pt x="0" y="99479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271140" y="7399144"/>
            <a:ext cx="3365002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00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Database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184134" y="7399144"/>
            <a:ext cx="11832879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00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PostgreSQL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1001763" y="8058445"/>
            <a:ext cx="16284473" cy="1166222"/>
            <a:chOff x="0" y="0"/>
            <a:chExt cx="21712631" cy="155496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1712682" cy="1554988"/>
            </a:xfrm>
            <a:custGeom>
              <a:avLst/>
              <a:gdLst/>
              <a:ahLst/>
              <a:cxnLst/>
              <a:rect l="l" t="t" r="r" b="b"/>
              <a:pathLst>
                <a:path w="21712682" h="1554988">
                  <a:moveTo>
                    <a:pt x="0" y="0"/>
                  </a:moveTo>
                  <a:lnTo>
                    <a:pt x="21712682" y="0"/>
                  </a:lnTo>
                  <a:lnTo>
                    <a:pt x="21712682" y="1554988"/>
                  </a:lnTo>
                  <a:lnTo>
                    <a:pt x="0" y="15549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001906" y="8058445"/>
            <a:ext cx="3908222" cy="1166222"/>
            <a:chOff x="0" y="0"/>
            <a:chExt cx="5210962" cy="1554963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210937" cy="1554988"/>
            </a:xfrm>
            <a:custGeom>
              <a:avLst/>
              <a:gdLst/>
              <a:ahLst/>
              <a:cxnLst/>
              <a:rect l="l" t="t" r="r" b="b"/>
              <a:pathLst>
                <a:path w="5210937" h="1554988">
                  <a:moveTo>
                    <a:pt x="0" y="0"/>
                  </a:moveTo>
                  <a:lnTo>
                    <a:pt x="5210937" y="0"/>
                  </a:lnTo>
                  <a:lnTo>
                    <a:pt x="5210937" y="1554988"/>
                  </a:lnTo>
                  <a:lnTo>
                    <a:pt x="0" y="1554988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271140" y="8145218"/>
            <a:ext cx="3365002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00" b="1">
                <a:solidFill>
                  <a:srgbClr val="272525"/>
                </a:solidFill>
                <a:latin typeface="Lora Bold"/>
                <a:ea typeface="Lora Bold"/>
                <a:cs typeface="Lora Bold"/>
                <a:sym typeface="Lora Bold"/>
              </a:rPr>
              <a:t>RAG System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4910138" y="8058445"/>
            <a:ext cx="12376099" cy="1166222"/>
            <a:chOff x="0" y="0"/>
            <a:chExt cx="16501466" cy="1554963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6501490" cy="1554988"/>
            </a:xfrm>
            <a:custGeom>
              <a:avLst/>
              <a:gdLst/>
              <a:ahLst/>
              <a:cxnLst/>
              <a:rect l="l" t="t" r="r" b="b"/>
              <a:pathLst>
                <a:path w="16501490" h="1554988">
                  <a:moveTo>
                    <a:pt x="0" y="0"/>
                  </a:moveTo>
                  <a:lnTo>
                    <a:pt x="16501490" y="0"/>
                  </a:lnTo>
                  <a:lnTo>
                    <a:pt x="16501490" y="1554988"/>
                  </a:lnTo>
                  <a:lnTo>
                    <a:pt x="0" y="1554988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5184134" y="8145218"/>
            <a:ext cx="11832879" cy="916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100" b="1">
                <a:solidFill>
                  <a:srgbClr val="272525"/>
                </a:solidFill>
                <a:latin typeface="Lora Bold"/>
                <a:ea typeface="Lora Bold"/>
                <a:cs typeface="Lora Bold"/>
                <a:sym typeface="Lora Bold"/>
              </a:rPr>
              <a:t>LangChain (for text chunking, semantic search, and RAG), Vector Database for embedding storage and retrieval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69050C77-1029-6C2B-0777-398AFB636F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0"/>
            <a:ext cx="18119954" cy="10096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158926"/>
            <a:ext cx="7691733" cy="933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>
                <a:solidFill>
                  <a:srgbClr val="233E32"/>
                </a:solidFill>
                <a:latin typeface="Alice Bold"/>
                <a:ea typeface="Alice Bold"/>
                <a:cs typeface="Alice Bold"/>
                <a:sym typeface="Alice Bold"/>
              </a:rPr>
              <a:t>References &amp; Resources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2730398"/>
            <a:ext cx="16303523" cy="21136"/>
            <a:chOff x="0" y="0"/>
            <a:chExt cx="21738031" cy="2818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38082" cy="28194"/>
            </a:xfrm>
            <a:custGeom>
              <a:avLst/>
              <a:gdLst/>
              <a:ahLst/>
              <a:cxnLst/>
              <a:rect l="l" t="t" r="r" b="b"/>
              <a:pathLst>
                <a:path w="21738082" h="28194">
                  <a:moveTo>
                    <a:pt x="0" y="0"/>
                  </a:moveTo>
                  <a:lnTo>
                    <a:pt x="21738082" y="0"/>
                  </a:lnTo>
                  <a:lnTo>
                    <a:pt x="21738082" y="28194"/>
                  </a:lnTo>
                  <a:lnTo>
                    <a:pt x="0" y="28194"/>
                  </a:lnTo>
                  <a:close/>
                </a:path>
              </a:pathLst>
            </a:custGeom>
            <a:solidFill>
              <a:srgbClr val="2C2821">
                <a:alpha val="2470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92238" y="3065116"/>
            <a:ext cx="16303523" cy="534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3500"/>
              </a:lnSpc>
              <a:buAutoNum type="arabicPeriod"/>
            </a:pPr>
            <a:r>
              <a:rPr lang="en-US" sz="2200" b="1" dirty="0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Ministry of Tribal Affairs, Govt of India, Forest Rights Act 2006 and Rules (FRA Act &amp; Rules) Book</a:t>
            </a:r>
          </a:p>
          <a:p>
            <a:pPr marL="265430" lvl="1" algn="l">
              <a:lnSpc>
                <a:spcPts val="3500"/>
              </a:lnSpc>
            </a:pPr>
            <a:r>
              <a:rPr lang="en-US" sz="2200" b="1" u="sng" dirty="0">
                <a:solidFill>
                  <a:srgbClr val="1B5F39"/>
                </a:solidFill>
                <a:latin typeface="Lora Bold"/>
                <a:ea typeface="Lora Bold"/>
                <a:cs typeface="Lora Bold"/>
                <a:sym typeface="Lora Bold"/>
              </a:rPr>
              <a:t>FRA Act &amp; Rules Book</a:t>
            </a:r>
          </a:p>
          <a:p>
            <a:pPr marL="265430" lvl="1" algn="l">
              <a:lnSpc>
                <a:spcPts val="3500"/>
              </a:lnSpc>
            </a:pPr>
            <a:r>
              <a:rPr lang="en-US" sz="2200" b="1" dirty="0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2.Ministry of Tribal Affairs, Govt of India, Guidelines for Interventions under DAIGUA, 2024</a:t>
            </a:r>
          </a:p>
          <a:p>
            <a:pPr marL="265430" lvl="1" algn="l">
              <a:lnSpc>
                <a:spcPts val="3500"/>
              </a:lnSpc>
            </a:pPr>
            <a:r>
              <a:rPr lang="en-US" sz="2200" b="1" u="sng" dirty="0">
                <a:solidFill>
                  <a:srgbClr val="1B5F39"/>
                </a:solidFill>
                <a:latin typeface="Lora Bold"/>
                <a:ea typeface="Lora Bold"/>
                <a:cs typeface="Lora Bold"/>
                <a:sym typeface="Lora Bold"/>
              </a:rPr>
              <a:t>DAIGUA Guidelines</a:t>
            </a:r>
          </a:p>
          <a:p>
            <a:pPr marL="265430" lvl="1" algn="l">
              <a:lnSpc>
                <a:spcPts val="3500"/>
              </a:lnSpc>
            </a:pPr>
            <a:r>
              <a:rPr lang="en-US" sz="2200" b="1" dirty="0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3.Ministry of Tribal Affairs, Govt of India, Monthly Progress Report on Implementation of Forest Rights Act, July 2025</a:t>
            </a:r>
          </a:p>
          <a:p>
            <a:pPr marL="265430" lvl="1" algn="l">
              <a:lnSpc>
                <a:spcPts val="3500"/>
              </a:lnSpc>
            </a:pPr>
            <a:r>
              <a:rPr lang="en-US" sz="2200" b="1" u="sng" dirty="0">
                <a:solidFill>
                  <a:srgbClr val="1B5F39"/>
                </a:solidFill>
                <a:latin typeface="Lora Bold"/>
                <a:ea typeface="Lora Bold"/>
                <a:cs typeface="Lora Bold"/>
                <a:sym typeface="Lora Bold"/>
              </a:rPr>
              <a:t>Monthly Progress Report</a:t>
            </a:r>
          </a:p>
          <a:p>
            <a:pPr marL="265430" lvl="1" algn="l">
              <a:lnSpc>
                <a:spcPts val="3500"/>
              </a:lnSpc>
            </a:pPr>
            <a:r>
              <a:rPr lang="en-US" sz="2200" b="1" dirty="0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4. J.M. Hemegues et al., "AI-Powered FRA Atlas &amp; </a:t>
            </a:r>
            <a:r>
              <a:rPr lang="en-US" sz="2200" b="1" dirty="0" err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WebGIS</a:t>
            </a:r>
            <a:r>
              <a:rPr lang="en-US" sz="2200" b="1" dirty="0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 Decision Support System," IJIRT, Paper ID: IJIRT166660</a:t>
            </a:r>
          </a:p>
          <a:p>
            <a:pPr marL="265430" lvl="1" algn="l">
              <a:lnSpc>
                <a:spcPts val="3500"/>
              </a:lnSpc>
            </a:pPr>
            <a:r>
              <a:rPr lang="en-US" sz="2200" b="1" u="sng" dirty="0">
                <a:solidFill>
                  <a:srgbClr val="1B5F39"/>
                </a:solidFill>
                <a:latin typeface="Lora Bold"/>
                <a:ea typeface="Lora Bold"/>
                <a:cs typeface="Lora Bold"/>
                <a:sym typeface="Lora Bold"/>
              </a:rPr>
              <a:t>IJIRT Paper</a:t>
            </a:r>
          </a:p>
          <a:p>
            <a:pPr marL="265430" lvl="1" algn="l">
              <a:lnSpc>
                <a:spcPts val="3500"/>
              </a:lnSpc>
            </a:pPr>
            <a:r>
              <a:rPr lang="en-US" sz="2200" b="1" dirty="0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5. UNDP, "FRA Knowledge Portal: FRA Atlas – Project Payments, Ministry of Tribal Affairs"</a:t>
            </a:r>
          </a:p>
          <a:p>
            <a:pPr marL="265430" lvl="1" algn="l">
              <a:lnSpc>
                <a:spcPts val="3500"/>
              </a:lnSpc>
            </a:pPr>
            <a:r>
              <a:rPr lang="en-US" sz="2200" b="1" u="sng" dirty="0">
                <a:solidFill>
                  <a:srgbClr val="1B5F39"/>
                </a:solidFill>
                <a:latin typeface="Lora Bold"/>
                <a:ea typeface="Lora Bold"/>
                <a:cs typeface="Lora Bold"/>
                <a:sym typeface="Lora Bold"/>
              </a:rPr>
              <a:t>UNDP Knowledge Portal</a:t>
            </a:r>
          </a:p>
          <a:p>
            <a:pPr marL="265430" lvl="1" algn="l">
              <a:lnSpc>
                <a:spcPts val="3500"/>
              </a:lnSpc>
            </a:pPr>
            <a:r>
              <a:rPr lang="en-US" sz="2200" b="1" dirty="0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6. World Bank, "Forest Rights Act: Smart Forests Atlas Logistical"</a:t>
            </a:r>
          </a:p>
          <a:p>
            <a:pPr marL="265430" lvl="1" algn="l">
              <a:lnSpc>
                <a:spcPts val="3500"/>
              </a:lnSpc>
            </a:pPr>
            <a:r>
              <a:rPr lang="en-US" sz="2200" b="1" u="sng" dirty="0">
                <a:solidFill>
                  <a:srgbClr val="1B5F39"/>
                </a:solidFill>
                <a:latin typeface="Lora Bold"/>
                <a:ea typeface="Lora Bold"/>
                <a:cs typeface="Lora Bold"/>
                <a:sym typeface="Lora Bold"/>
              </a:rPr>
              <a:t>Smart Forests Logistical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745</Words>
  <Application>Microsoft Office PowerPoint</Application>
  <PresentationFormat>Custom</PresentationFormat>
  <Paragraphs>109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Calibri</vt:lpstr>
      <vt:lpstr>Lora Bold</vt:lpstr>
      <vt:lpstr>Alice Bold</vt:lpstr>
      <vt:lpstr>Arial</vt:lpstr>
      <vt:lpstr>Lora</vt:lpstr>
      <vt:lpstr>Alice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FRA-Atlas-A-WebGIS-Based-Intelligent-Frontier-For-Forest-Rights-Decision-Support.pptx</dc:title>
  <dc:creator>Sanjana Dharanikota</dc:creator>
  <cp:lastModifiedBy>Sanjana Dharanikota</cp:lastModifiedBy>
  <cp:revision>2</cp:revision>
  <dcterms:created xsi:type="dcterms:W3CDTF">2006-08-16T00:00:00Z</dcterms:created>
  <dcterms:modified xsi:type="dcterms:W3CDTF">2026-05-08T14:30:44Z</dcterms:modified>
  <dc:identifier>DAHJFsHFBT8</dc:identifier>
</cp:coreProperties>
</file>